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charts/chart1.xml" ContentType="application/vnd.openxmlformats-officedocument.drawingml.chart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Ruido gaussiano</c:v>
                </c:pt>
              </c:strCache>
            </c:strRef>
          </c:tx>
          <c:spPr>
            <a:solidFill>
              <a:srgbClr val="8C8C8C"/>
            </a:solidFill>
            <a:ln w="31750" cap="flat">
              <a:solidFill>
                <a:srgbClr val="8C8C8C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8C8C8C"/>
              </a:solidFill>
              <a:ln w="9525" cap="flat">
                <a:solidFill>
                  <a:srgbClr val="8C8C8C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Sheet1!$A$2:$A$7</c:f>
              <c:multiLvlStrCache>
                <c:ptCount val="6"/>
                <c:lvl>
                  <c:pt idx="0">
                    <c:v>0</c:v>
                  </c:pt>
                  <c:pt idx="1">
                    <c:v>0,25</c:v>
                  </c:pt>
                  <c:pt idx="2">
                    <c:v>0,5</c:v>
                  </c:pt>
                  <c:pt idx="3">
                    <c:v>1</c:v>
                  </c:pt>
                  <c:pt idx="4">
                    <c:v>2</c:v>
                  </c:pt>
                  <c:pt idx="5">
                    <c:v>4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0.225</c:v>
                </c:pt>
                <c:pt idx="1">
                  <c:v>0.267</c:v>
                </c:pt>
                <c:pt idx="2">
                  <c:v>0.191</c:v>
                </c:pt>
                <c:pt idx="3">
                  <c:v>0.217</c:v>
                </c:pt>
                <c:pt idx="4">
                  <c:v>0.167</c:v>
                </c:pt>
                <c:pt idx="5">
                  <c:v>0.164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cGAN</c:v>
                </c:pt>
              </c:strCache>
            </c:strRef>
          </c:tx>
          <c:spPr>
            <a:solidFill>
              <a:srgbClr val="D64550"/>
            </a:solidFill>
            <a:ln w="31750" cap="flat">
              <a:solidFill>
                <a:srgbClr val="D64550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D64550"/>
              </a:solidFill>
              <a:ln w="9525" cap="flat">
                <a:solidFill>
                  <a:srgbClr val="D64550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Sheet1!$A$2:$A$7</c:f>
              <c:multiLvlStrCache>
                <c:ptCount val="6"/>
                <c:lvl>
                  <c:pt idx="0">
                    <c:v>0</c:v>
                  </c:pt>
                  <c:pt idx="1">
                    <c:v>0,25</c:v>
                  </c:pt>
                  <c:pt idx="2">
                    <c:v>0,5</c:v>
                  </c:pt>
                  <c:pt idx="3">
                    <c:v>1</c:v>
                  </c:pt>
                  <c:pt idx="4">
                    <c:v>2</c:v>
                  </c:pt>
                  <c:pt idx="5">
                    <c:v>4</c:v>
                  </c:pt>
                </c:lvl>
              </c:multiLvlStrCache>
            </c:multiLvl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0.225</c:v>
                </c:pt>
                <c:pt idx="1">
                  <c:v>0.215</c:v>
                </c:pt>
                <c:pt idx="2">
                  <c:v>0.153</c:v>
                </c:pt>
                <c:pt idx="3">
                  <c:v>0.187</c:v>
                </c:pt>
                <c:pt idx="4">
                  <c:v>0.212</c:v>
                </c:pt>
                <c:pt idx="5">
                  <c:v>0.207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CVAE</c:v>
                </c:pt>
              </c:strCache>
            </c:strRef>
          </c:tx>
          <c:spPr>
            <a:solidFill>
              <a:srgbClr val="2E6F9E"/>
            </a:solidFill>
            <a:ln w="31750" cap="flat">
              <a:solidFill>
                <a:srgbClr val="2E6F9E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2E6F9E"/>
              </a:solidFill>
              <a:ln w="9525" cap="flat">
                <a:solidFill>
                  <a:srgbClr val="2E6F9E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Sheet1!$A$2:$A$7</c:f>
              <c:multiLvlStrCache>
                <c:ptCount val="6"/>
                <c:lvl>
                  <c:pt idx="0">
                    <c:v>0</c:v>
                  </c:pt>
                  <c:pt idx="1">
                    <c:v>0,25</c:v>
                  </c:pt>
                  <c:pt idx="2">
                    <c:v>0,5</c:v>
                  </c:pt>
                  <c:pt idx="3">
                    <c:v>1</c:v>
                  </c:pt>
                  <c:pt idx="4">
                    <c:v>2</c:v>
                  </c:pt>
                  <c:pt idx="5">
                    <c:v>4</c:v>
                  </c:pt>
                </c:lvl>
              </c:multiLvlStrCache>
            </c:multiLvl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0.225</c:v>
                </c:pt>
                <c:pt idx="1">
                  <c:v>0.257</c:v>
                </c:pt>
                <c:pt idx="2">
                  <c:v>0.234</c:v>
                </c:pt>
                <c:pt idx="3">
                  <c:v>0.222</c:v>
                </c:pt>
                <c:pt idx="4">
                  <c:v>0.219</c:v>
                </c:pt>
                <c:pt idx="5">
                  <c:v>0.207</c:v>
                </c:pt>
              </c:numCache>
            </c:numRef>
          </c:val>
          <c:smooth val="0"/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Difusión</c:v>
                </c:pt>
              </c:strCache>
            </c:strRef>
          </c:tx>
          <c:spPr>
            <a:solidFill>
              <a:srgbClr val="5B8C5A"/>
            </a:solidFill>
            <a:ln w="31750" cap="flat">
              <a:solidFill>
                <a:srgbClr val="5B8C5A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5B8C5A"/>
              </a:solidFill>
              <a:ln w="9525" cap="flat">
                <a:solidFill>
                  <a:srgbClr val="5B8C5A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Sheet1!$A$2:$A$7</c:f>
              <c:multiLvlStrCache>
                <c:ptCount val="6"/>
                <c:lvl>
                  <c:pt idx="0">
                    <c:v>0</c:v>
                  </c:pt>
                  <c:pt idx="1">
                    <c:v>0,25</c:v>
                  </c:pt>
                  <c:pt idx="2">
                    <c:v>0,5</c:v>
                  </c:pt>
                  <c:pt idx="3">
                    <c:v>1</c:v>
                  </c:pt>
                  <c:pt idx="4">
                    <c:v>2</c:v>
                  </c:pt>
                  <c:pt idx="5">
                    <c:v>4</c:v>
                  </c:pt>
                </c:lvl>
              </c:multiLvlStrCache>
            </c:multiLvlStrRef>
          </c:cat>
          <c:val>
            <c:numRef>
              <c:f>Sheet1!$E$2:$E$7</c:f>
              <c:numCache>
                <c:formatCode>General</c:formatCode>
                <c:ptCount val="6"/>
                <c:pt idx="0">
                  <c:v>0.225</c:v>
                </c:pt>
                <c:pt idx="1">
                  <c:v>0.254</c:v>
                </c:pt>
                <c:pt idx="2">
                  <c:v>0.22</c:v>
                </c:pt>
                <c:pt idx="3">
                  <c:v>0.188</c:v>
                </c:pt>
                <c:pt idx="4">
                  <c:v>0.164</c:v>
                </c:pt>
                <c:pt idx="5">
                  <c:v>0.224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1100" b="0" i="0" u="none" strike="noStrike">
                    <a:solidFill>
                      <a:srgbClr val="5B7089"/>
                    </a:solidFill>
                    <a:latin typeface="Arial"/>
                  </a:defRPr>
                </a:pPr>
                <a:r>
                  <a:rPr sz="1100" b="0" i="0" u="none" strike="noStrike">
                    <a:solidFill>
                      <a:srgbClr val="5B7089"/>
                    </a:solidFill>
                    <a:latin typeface="Arial"/>
                  </a:rPr>
                  <a:t>proporción de sintéticos sobre el presupuesto real</a:t>
                </a:r>
              </a:p>
            </c:rich>
          </c:tx>
          <c:layout/>
          <c:overlay val="0"/>
        </c:title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B7089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3"/>
          <c:min val="0.1"/>
        </c:scaling>
        <c:delete val="0"/>
        <c:axPos val="l"/>
        <c:majorGridlines>
          <c:spPr>
            <a:ln w="12700" cap="flat">
              <a:solidFill>
                <a:srgbClr val="DDE4EC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1100" b="0" i="0" u="none" strike="noStrike">
                    <a:solidFill>
                      <a:srgbClr val="5B7089"/>
                    </a:solidFill>
                    <a:latin typeface="Arial"/>
                  </a:defRPr>
                </a:pPr>
                <a:r>
                  <a:rPr sz="1100" b="0" i="0" u="none" strike="noStrike">
                    <a:solidFill>
                      <a:srgbClr val="5B7089"/>
                    </a:solidFill>
                    <a:latin typeface="Arial"/>
                  </a:rPr>
                  <a:t>PR-AUC (test)</a:t>
                </a:r>
              </a:p>
            </c:rich>
          </c:tx>
          <c:layout/>
          <c:overlay val="0"/>
        </c:title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B7089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13253A"/>
              </a:solidFill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MASTER_LIGH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254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2545"/>
          </a:solidFill>
          <a:ln/>
        </p:spPr>
      </p:sp>
      <p:sp>
        <p:nvSpPr>
          <p:cNvPr id="3" name="Shape 1"/>
          <p:cNvSpPr/>
          <p:nvPr/>
        </p:nvSpPr>
        <p:spPr>
          <a:xfrm rot="-2132261">
            <a:off x="7863840" y="5120640"/>
            <a:ext cx="786597" cy="0"/>
          </a:xfrm>
          <a:prstGeom prst="line">
            <a:avLst/>
          </a:prstGeom>
          <a:noFill/>
          <a:ln w="27940">
            <a:solidFill>
              <a:srgbClr val="23406E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 rot="1593903">
            <a:off x="8503920" y="4663440"/>
            <a:ext cx="613398" cy="0"/>
          </a:xfrm>
          <a:prstGeom prst="line">
            <a:avLst/>
          </a:prstGeom>
          <a:noFill/>
          <a:ln w="27940">
            <a:solidFill>
              <a:srgbClr val="23406E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 rot="-3300479">
            <a:off x="9052560" y="4937760"/>
            <a:ext cx="1116167" cy="0"/>
          </a:xfrm>
          <a:prstGeom prst="line">
            <a:avLst/>
          </a:prstGeom>
          <a:noFill/>
          <a:ln w="27940">
            <a:solidFill>
              <a:srgbClr val="23406E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 rot="2388334">
            <a:off x="9692640" y="4023360"/>
            <a:ext cx="714169" cy="0"/>
          </a:xfrm>
          <a:prstGeom prst="line">
            <a:avLst/>
          </a:prstGeom>
          <a:noFill/>
          <a:ln w="27940">
            <a:solidFill>
              <a:srgbClr val="23406E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 rot="-3913492">
            <a:off x="10241280" y="4480560"/>
            <a:ext cx="1309222" cy="0"/>
          </a:xfrm>
          <a:prstGeom prst="line">
            <a:avLst/>
          </a:prstGeom>
          <a:noFill/>
          <a:ln w="27940">
            <a:solidFill>
              <a:srgbClr val="23406E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 rot="2436078">
            <a:off x="10789920" y="3291840"/>
            <a:ext cx="843035" cy="0"/>
          </a:xfrm>
          <a:prstGeom prst="line">
            <a:avLst/>
          </a:prstGeom>
          <a:noFill/>
          <a:ln w="27940">
            <a:solidFill>
              <a:srgbClr val="23406E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 rot="-4166637">
            <a:off x="11430000" y="3840480"/>
            <a:ext cx="1562527" cy="0"/>
          </a:xfrm>
          <a:prstGeom prst="line">
            <a:avLst/>
          </a:prstGeom>
          <a:noFill/>
          <a:ln w="27940">
            <a:solidFill>
              <a:srgbClr val="23406E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9555480" y="3913632"/>
            <a:ext cx="146304" cy="146304"/>
          </a:xfrm>
          <a:prstGeom prst="ellipse">
            <a:avLst/>
          </a:prstGeom>
          <a:solidFill>
            <a:srgbClr val="D64550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822960" y="169164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8DA9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TALLER B5-T1  ·  MIAX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777240" y="2148840"/>
            <a:ext cx="877824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Generación de datos</a:t>
            </a:r>
            <a:endParaRPr lang="en-US" sz="44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financieros sintéticos</a:t>
            </a:r>
            <a:endParaRPr lang="en-US" sz="4400" dirty="0"/>
          </a:p>
        </p:txBody>
      </p:sp>
      <p:sp>
        <p:nvSpPr>
          <p:cNvPr id="13" name="Text 11"/>
          <p:cNvSpPr txBox="1"/>
          <p:nvPr/>
        </p:nvSpPr>
        <p:spPr>
          <a:xfrm>
            <a:off x="822960" y="3794760"/>
            <a:ext cx="8686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8DA9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¿Puede la generación sintética compensar la escasez de episodios</a:t>
            </a:r>
            <a:endParaRPr lang="en-US" sz="1600" dirty="0"/>
          </a:p>
          <a:p>
            <a:pPr indent="0" marL="0">
              <a:buNone/>
            </a:pPr>
            <a:r>
              <a:rPr lang="en-US" sz="1600" i="1" dirty="0">
                <a:solidFill>
                  <a:srgbClr val="8DA9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caída severa en el mercado?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822960" y="4709160"/>
            <a:ext cx="457200" cy="27432"/>
          </a:xfrm>
          <a:prstGeom prst="rect">
            <a:avLst/>
          </a:prstGeom>
          <a:solidFill>
            <a:srgbClr val="D64550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822960" y="484632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Raúl Rodríguez  ·  Pietro  ·  Alonso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822960" y="521208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DA9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de septiembre de 2026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D645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PROBLEMA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749808"/>
            <a:ext cx="10881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325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Anticipar una caída severa del S&amp;P 500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536192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B70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partir de la ventana de rentabilidades de los últimos 60 días, predecir si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5B70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cartera sufrirá un retroceso pronunciado durante los 30 días siguientes.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478024"/>
            <a:ext cx="82296" cy="384048"/>
          </a:xfrm>
          <a:prstGeom prst="rect">
            <a:avLst/>
          </a:prstGeom>
          <a:solidFill>
            <a:srgbClr val="D64550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896112" y="2423160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325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Universo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3246120" y="2423160"/>
            <a:ext cx="8138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B70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 valores del S&amp;P 500 con historia completa desde 1962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640080" y="3044952"/>
            <a:ext cx="82296" cy="384048"/>
          </a:xfrm>
          <a:prstGeom prst="rect">
            <a:avLst/>
          </a:prstGeom>
          <a:solidFill>
            <a:srgbClr val="D64550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896112" y="2990088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325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Entrada  X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3246120" y="2990088"/>
            <a:ext cx="8138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B70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ventana de 60 sesiones × 23 activos de rentabilidades logarítmicas</a:t>
            </a:r>
            <a:endParaRPr lang="en-US" sz="1350" dirty="0"/>
          </a:p>
        </p:txBody>
      </p:sp>
      <p:sp>
        <p:nvSpPr>
          <p:cNvPr id="11" name="Shape 9"/>
          <p:cNvSpPr/>
          <p:nvPr/>
        </p:nvSpPr>
        <p:spPr>
          <a:xfrm>
            <a:off x="640080" y="3611880"/>
            <a:ext cx="82296" cy="384048"/>
          </a:xfrm>
          <a:prstGeom prst="rect">
            <a:avLst/>
          </a:prstGeom>
          <a:solidFill>
            <a:srgbClr val="D64550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896112" y="3557016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325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Etiqueta  y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3246120" y="3557016"/>
            <a:ext cx="8138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B70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si el drawdown a 30 días supera el −7,91 % · umbral calibrado solo con train</a:t>
            </a:r>
            <a:endParaRPr lang="en-US" sz="1350" dirty="0"/>
          </a:p>
        </p:txBody>
      </p:sp>
      <p:sp>
        <p:nvSpPr>
          <p:cNvPr id="14" name="Shape 12"/>
          <p:cNvSpPr/>
          <p:nvPr/>
        </p:nvSpPr>
        <p:spPr>
          <a:xfrm>
            <a:off x="640080" y="4178808"/>
            <a:ext cx="82296" cy="384048"/>
          </a:xfrm>
          <a:prstGeom prst="rect">
            <a:avLst/>
          </a:prstGeom>
          <a:solidFill>
            <a:srgbClr val="D64550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896112" y="4123944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325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Clasificador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3246120" y="4123944"/>
            <a:ext cx="8138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B70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CNN 1D — idéntica arquitectura en las 4 configuraciones comparadas</a:t>
            </a:r>
            <a:endParaRPr lang="en-US" sz="1350" dirty="0"/>
          </a:p>
        </p:txBody>
      </p:sp>
      <p:sp>
        <p:nvSpPr>
          <p:cNvPr id="17" name="Shape 15"/>
          <p:cNvSpPr/>
          <p:nvPr/>
        </p:nvSpPr>
        <p:spPr>
          <a:xfrm>
            <a:off x="640080" y="4745736"/>
            <a:ext cx="82296" cy="384048"/>
          </a:xfrm>
          <a:prstGeom prst="rect">
            <a:avLst/>
          </a:prstGeom>
          <a:solidFill>
            <a:srgbClr val="D64550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896112" y="4690872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325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Métrica</a:t>
            </a:r>
            <a:endParaRPr lang="en-US" sz="1400" dirty="0"/>
          </a:p>
        </p:txBody>
      </p:sp>
      <p:sp>
        <p:nvSpPr>
          <p:cNvPr id="19" name="Text 17"/>
          <p:cNvSpPr txBox="1"/>
          <p:nvPr/>
        </p:nvSpPr>
        <p:spPr>
          <a:xfrm>
            <a:off x="3246120" y="4690872"/>
            <a:ext cx="8138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B70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PR-AUC sobre la clase positiva (no accuracy: clase minoritaria)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8915400" y="5074920"/>
            <a:ext cx="2606040" cy="1234440"/>
          </a:xfrm>
          <a:prstGeom prst="roundRect">
            <a:avLst>
              <a:gd name="adj" fmla="val 5926"/>
            </a:avLst>
          </a:prstGeom>
          <a:solidFill>
            <a:srgbClr val="E8EEF5"/>
          </a:solidFill>
          <a:ln/>
          <a:effectLst>
            <a:outerShdw sx="100000" sy="100000" kx="0" ky="0" algn="bl" rotWithShape="0" blurRad="101600" dist="38100" dir="5400000">
              <a:srgbClr val="9AA7B5">
                <a:alpha val="35000"/>
              </a:srgbClr>
            </a:outerShdw>
          </a:effectLst>
        </p:spPr>
      </p:sp>
      <p:sp>
        <p:nvSpPr>
          <p:cNvPr id="21" name="Text 19"/>
          <p:cNvSpPr txBox="1"/>
          <p:nvPr/>
        </p:nvSpPr>
        <p:spPr>
          <a:xfrm>
            <a:off x="8915400" y="5148072"/>
            <a:ext cx="2606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0B254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16.180</a:t>
            </a:r>
            <a:endParaRPr lang="en-US" sz="3000" dirty="0"/>
          </a:p>
        </p:txBody>
      </p:sp>
      <p:sp>
        <p:nvSpPr>
          <p:cNvPr id="22" name="Text 20"/>
          <p:cNvSpPr txBox="1"/>
          <p:nvPr/>
        </p:nvSpPr>
        <p:spPr>
          <a:xfrm>
            <a:off x="8915400" y="5742432"/>
            <a:ext cx="2606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B70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ventanas  ·  10 % positivas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70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Generación de datos financieros sintéticos  ·  Taller B5-T1</a:t>
            </a:r>
            <a:endParaRPr lang="en-US" sz="900" dirty="0"/>
          </a:p>
        </p:txBody>
      </p:sp>
      <p:sp>
        <p:nvSpPr>
          <p:cNvPr id="24" name="Text 22"/>
          <p:cNvSpPr txBox="1"/>
          <p:nvPr/>
        </p:nvSpPr>
        <p:spPr>
          <a:xfrm>
            <a:off x="11277295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70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D645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NUESTRO PROBLEMA FINANCIERO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749808"/>
            <a:ext cx="10881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325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Detectar un evento raro, no predecir un promedio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481328"/>
            <a:ext cx="10881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1325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problema de este trabajo: </a:t>
            </a:r>
            <a:pPr indent="0" marL="0">
              <a:buNone/>
            </a:pPr>
            <a:r>
              <a:rPr lang="en-US" sz="1550" b="1" dirty="0">
                <a:solidFill>
                  <a:srgbClr val="1325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anticipar si la cartera va a sufrir una caída severa en los 30 días siguientes.</a:t>
            </a:r>
            <a:endParaRPr lang="en-US" sz="155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993392"/>
            <a:ext cx="10881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B70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 parte del ejercicio de la sesión 1 —mismo S&amp;P 500, misma ventana de 60 días, misma red convolucional—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5B70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pero se cambia lo que se predice, y esa reformulación no es cosmética:</a:t>
            </a:r>
            <a:endParaRPr lang="en-US" sz="13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2724912"/>
          <a:ext cx="10881360" cy="2011680"/>
        </p:xfrm>
        <a:graphic>
          <a:graphicData uri="http://schemas.openxmlformats.org/drawingml/2006/table">
            <a:tbl>
              <a:tblPr/>
              <a:tblGrid>
                <a:gridCol w="2651760"/>
                <a:gridCol w="4114800"/>
                <a:gridCol w="4114800"/>
              </a:tblGrid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Sesión 1 (ejercicio guiado)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Este trabajo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0B2545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5B708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Qué predice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E8EE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5B708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rentabilidad media a 30 días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E8EE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1325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caída severa a 30 días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E8EEF5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5B708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Tipo de problema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5B708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regresión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1325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clasificación de un evento raro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5B708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Partición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E8EE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5B708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aleatoria (train_test_split)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E8EE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1325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cronológica, con embargo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E8EEF5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5B708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Escasez de datos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5B708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ninguna: etiqueta continua siempre válida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1325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real: 51 episodios en 45 años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640080" y="4937760"/>
            <a:ext cx="10881360" cy="1143000"/>
          </a:xfrm>
          <a:prstGeom prst="roundRect">
            <a:avLst>
              <a:gd name="adj" fmla="val 6400"/>
            </a:avLst>
          </a:prstGeom>
          <a:solidFill>
            <a:srgbClr val="0B2545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914400" y="5102352"/>
            <a:ext cx="10332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8DA9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rentabilidad media no escasea nunca. </a:t>
            </a:r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8DA9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Reformular el problema como detección de un evento raro es lo que crea la escasez de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8DA9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datos que el resto del taller analiza: es la razón concreta por la que 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este</a:t>
            </a:r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8DA9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problema necesita datos sintéticos y el de la sesión 1 no.</a:t>
            </a:r>
            <a:endParaRPr lang="en-US" sz="1250" dirty="0"/>
          </a:p>
        </p:txBody>
      </p:sp>
      <p:sp>
        <p:nvSpPr>
          <p:cNvPr id="9" name="Text 6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70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Generación de datos financieros sintéticos  ·  Taller B5-T1</a:t>
            </a:r>
            <a:endParaRPr lang="en-US" sz="900" dirty="0"/>
          </a:p>
        </p:txBody>
      </p:sp>
      <p:sp>
        <p:nvSpPr>
          <p:cNvPr id="10" name="Text 7"/>
          <p:cNvSpPr txBox="1"/>
          <p:nvPr/>
        </p:nvSpPr>
        <p:spPr>
          <a:xfrm>
            <a:off x="11277295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70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E8EE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D645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JUSTIFICACIÓN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749808"/>
            <a:ext cx="10881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325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1.137 ventanas positivas son, en realidad, 51 episodios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536192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B70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Dos ventanas separadas por un día comparten 59 de sus 60 sesiones. El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5B70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recuento que importa no es el de ventanas, sino el de episodios independientes.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423160"/>
            <a:ext cx="5166360" cy="2103120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38100" dir="5400000">
              <a:srgbClr val="9AA7B5">
                <a:alpha val="30000"/>
              </a:srgbClr>
            </a:outerShdw>
          </a:effectLst>
        </p:spPr>
      </p:sp>
      <p:sp>
        <p:nvSpPr>
          <p:cNvPr id="6" name="Text 4"/>
          <p:cNvSpPr txBox="1"/>
          <p:nvPr/>
        </p:nvSpPr>
        <p:spPr>
          <a:xfrm>
            <a:off x="640080" y="2679192"/>
            <a:ext cx="5166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0" b="1" dirty="0">
                <a:solidFill>
                  <a:srgbClr val="0B254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1.137</a:t>
            </a:r>
            <a:endParaRPr lang="en-US" sz="6200" dirty="0"/>
          </a:p>
        </p:txBody>
      </p:sp>
      <p:sp>
        <p:nvSpPr>
          <p:cNvPr id="7" name="Text 5"/>
          <p:cNvSpPr txBox="1"/>
          <p:nvPr/>
        </p:nvSpPr>
        <p:spPr>
          <a:xfrm>
            <a:off x="1005840" y="3611880"/>
            <a:ext cx="4434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325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ventanas positivas en</a:t>
            </a:r>
            <a:endParaRPr lang="en-US" sz="1350" dirty="0"/>
          </a:p>
          <a:p>
            <a:pPr algn="ctr" indent="0" marL="0">
              <a:buNone/>
            </a:pPr>
            <a:r>
              <a:rPr lang="en-US" sz="1350" b="1" dirty="0">
                <a:solidFill>
                  <a:srgbClr val="1325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conjunto de entrenamiento</a:t>
            </a:r>
            <a:endParaRPr lang="en-US" sz="1350" dirty="0"/>
          </a:p>
        </p:txBody>
      </p:sp>
      <p:sp>
        <p:nvSpPr>
          <p:cNvPr id="8" name="Text 6"/>
          <p:cNvSpPr txBox="1"/>
          <p:nvPr/>
        </p:nvSpPr>
        <p:spPr>
          <a:xfrm>
            <a:off x="1005840" y="4114800"/>
            <a:ext cx="4434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5B70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cifra que en apariencia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i="1" dirty="0">
                <a:solidFill>
                  <a:srgbClr val="5B70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indica escasez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6355080" y="2423160"/>
            <a:ext cx="5166360" cy="2103120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38100" dir="5400000">
              <a:srgbClr val="9AA7B5">
                <a:alpha val="30000"/>
              </a:srgbClr>
            </a:outerShdw>
          </a:effectLst>
        </p:spPr>
      </p:sp>
      <p:sp>
        <p:nvSpPr>
          <p:cNvPr id="10" name="Text 8"/>
          <p:cNvSpPr txBox="1"/>
          <p:nvPr/>
        </p:nvSpPr>
        <p:spPr>
          <a:xfrm>
            <a:off x="6355080" y="2679192"/>
            <a:ext cx="5166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0" b="1" dirty="0">
                <a:solidFill>
                  <a:srgbClr val="D6455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51</a:t>
            </a:r>
            <a:endParaRPr lang="en-US" sz="6200" dirty="0"/>
          </a:p>
        </p:txBody>
      </p:sp>
      <p:sp>
        <p:nvSpPr>
          <p:cNvPr id="11" name="Text 9"/>
          <p:cNvSpPr txBox="1"/>
          <p:nvPr/>
        </p:nvSpPr>
        <p:spPr>
          <a:xfrm>
            <a:off x="6720840" y="3611880"/>
            <a:ext cx="4434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325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episodios de crisis</a:t>
            </a:r>
            <a:endParaRPr lang="en-US" sz="1350" dirty="0"/>
          </a:p>
          <a:p>
            <a:pPr algn="ctr" indent="0" marL="0">
              <a:buNone/>
            </a:pPr>
            <a:r>
              <a:rPr lang="en-US" sz="1350" b="1" dirty="0">
                <a:solidFill>
                  <a:srgbClr val="1325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independientes en 45 años</a:t>
            </a:r>
            <a:endParaRPr lang="en-US" sz="1350" dirty="0"/>
          </a:p>
        </p:txBody>
      </p:sp>
      <p:sp>
        <p:nvSpPr>
          <p:cNvPr id="12" name="Text 10"/>
          <p:cNvSpPr txBox="1"/>
          <p:nvPr/>
        </p:nvSpPr>
        <p:spPr>
          <a:xfrm>
            <a:off x="6720840" y="4114800"/>
            <a:ext cx="4434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5B70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test: 243 ventanas son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i="1" dirty="0">
                <a:solidFill>
                  <a:srgbClr val="5B70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solo 8 episodios</a:t>
            </a:r>
            <a:endParaRPr lang="en-US" sz="1050" dirty="0"/>
          </a:p>
        </p:txBody>
      </p:sp>
      <p:sp>
        <p:nvSpPr>
          <p:cNvPr id="13" name="Text 11"/>
          <p:cNvSpPr txBox="1"/>
          <p:nvPr/>
        </p:nvSpPr>
        <p:spPr>
          <a:xfrm>
            <a:off x="640080" y="4736592"/>
            <a:ext cx="10881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325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 los tramos recientes del entrenamiento no contienen ningún episodio: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640080" y="5102352"/>
            <a:ext cx="3429000" cy="713232"/>
          </a:xfrm>
          <a:prstGeom prst="roundRect">
            <a:avLst>
              <a:gd name="adj" fmla="val 7692"/>
            </a:avLst>
          </a:prstGeom>
          <a:solidFill>
            <a:srgbClr val="FBE9EA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804672" y="5148072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B70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últimas 500 ventanas</a:t>
            </a:r>
            <a:endParaRPr lang="en-US" sz="1050" dirty="0"/>
          </a:p>
        </p:txBody>
      </p:sp>
      <p:sp>
        <p:nvSpPr>
          <p:cNvPr id="16" name="Text 14"/>
          <p:cNvSpPr txBox="1"/>
          <p:nvPr/>
        </p:nvSpPr>
        <p:spPr>
          <a:xfrm>
            <a:off x="804672" y="5413248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645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 positivas  (0,0 %)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4251960" y="5102352"/>
            <a:ext cx="3429000" cy="713232"/>
          </a:xfrm>
          <a:prstGeom prst="roundRect">
            <a:avLst>
              <a:gd name="adj" fmla="val 7692"/>
            </a:avLst>
          </a:prstGeom>
          <a:solidFill>
            <a:srgbClr val="FBE9EA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4416552" y="5148072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B70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últimas 1.000 ventanas</a:t>
            </a:r>
            <a:endParaRPr lang="en-US" sz="1050" dirty="0"/>
          </a:p>
        </p:txBody>
      </p:sp>
      <p:sp>
        <p:nvSpPr>
          <p:cNvPr id="19" name="Text 17"/>
          <p:cNvSpPr txBox="1"/>
          <p:nvPr/>
        </p:nvSpPr>
        <p:spPr>
          <a:xfrm>
            <a:off x="4416552" y="5413248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645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 positivas  (0,0 %)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7863840" y="5102352"/>
            <a:ext cx="3429000" cy="713232"/>
          </a:xfrm>
          <a:prstGeom prst="roundRect">
            <a:avLst>
              <a:gd name="adj" fmla="val 7692"/>
            </a:avLst>
          </a:prstGeom>
          <a:solidFill>
            <a:srgbClr val="E9F3EE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8028432" y="5148072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B70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últimas 2.000 ventanas</a:t>
            </a:r>
            <a:endParaRPr lang="en-US" sz="1050" dirty="0"/>
          </a:p>
        </p:txBody>
      </p:sp>
      <p:sp>
        <p:nvSpPr>
          <p:cNvPr id="22" name="Text 20"/>
          <p:cNvSpPr txBox="1"/>
          <p:nvPr/>
        </p:nvSpPr>
        <p:spPr>
          <a:xfrm>
            <a:off x="8028432" y="5413248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E8B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257 positivas  (12,8 %)</a:t>
            </a: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70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Generación de datos financieros sintéticos  ·  Taller B5-T1</a:t>
            </a:r>
            <a:endParaRPr lang="en-US" sz="900" dirty="0"/>
          </a:p>
        </p:txBody>
      </p:sp>
      <p:sp>
        <p:nvSpPr>
          <p:cNvPr id="24" name="Text 22"/>
          <p:cNvSpPr txBox="1"/>
          <p:nvPr/>
        </p:nvSpPr>
        <p:spPr>
          <a:xfrm>
            <a:off x="11277295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70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D645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METODOLOGÍA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749808"/>
            <a:ext cx="10881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325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Tres decisiones que sostienen la comparación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40080" y="1691640"/>
            <a:ext cx="502920" cy="502920"/>
          </a:xfrm>
          <a:prstGeom prst="ellipse">
            <a:avLst/>
          </a:prstGeom>
          <a:solidFill>
            <a:srgbClr val="0B2545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640080" y="169164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1371600" y="1664208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325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Partición cronológica con embargo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1371600" y="2057400"/>
            <a:ext cx="10058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B70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 1962–2007 · validación 2007–2016 · test 2017–2026, separados por un hueco de 90 sesiones. Un reparto aleatorio de ventanas solapadas infla las métricas.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640080" y="2743200"/>
            <a:ext cx="502920" cy="502920"/>
          </a:xfrm>
          <a:prstGeom prst="ellipse">
            <a:avLst/>
          </a:prstGeom>
          <a:solidFill>
            <a:srgbClr val="0B2545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640080" y="27432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000" dirty="0"/>
          </a:p>
        </p:txBody>
      </p:sp>
      <p:sp>
        <p:nvSpPr>
          <p:cNvPr id="10" name="Text 8"/>
          <p:cNvSpPr txBox="1"/>
          <p:nvPr/>
        </p:nvSpPr>
        <p:spPr>
          <a:xfrm>
            <a:off x="1371600" y="2715768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325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 generadores solo ven el presupuesto real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1371600" y="3108960"/>
            <a:ext cx="10058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B70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las mismas 3.000 ventanas de entrenamiento que el clasificador, nunca el histórico completo, nunca validación o test.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640080" y="3794760"/>
            <a:ext cx="502920" cy="502920"/>
          </a:xfrm>
          <a:prstGeom prst="ellipse">
            <a:avLst/>
          </a:prstGeom>
          <a:solidFill>
            <a:srgbClr val="0B2545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640080" y="379476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000" dirty="0"/>
          </a:p>
        </p:txBody>
      </p:sp>
      <p:sp>
        <p:nvSpPr>
          <p:cNvPr id="14" name="Text 12"/>
          <p:cNvSpPr txBox="1"/>
          <p:nvPr/>
        </p:nvSpPr>
        <p:spPr>
          <a:xfrm>
            <a:off x="1371600" y="3767328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325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Arquitectura y protocolo únicos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1371600" y="4160520"/>
            <a:ext cx="10058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B70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misma CNN para las 4 configuraciones; búsqueda de arquitectura sobre datos reales (10 configuraciones, mejora +0,017 frente a dispersión 0,066 entre semillas — no se cambia).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640080" y="5074920"/>
            <a:ext cx="10881360" cy="1051560"/>
          </a:xfrm>
          <a:prstGeom prst="roundRect">
            <a:avLst>
              <a:gd name="adj" fmla="val 6957"/>
            </a:avLst>
          </a:prstGeom>
          <a:solidFill>
            <a:srgbClr val="E8EEF5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914400" y="519379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Determinismo, con un matiz honesto</a:t>
            </a:r>
            <a:endParaRPr lang="en-US" sz="1250" dirty="0"/>
          </a:p>
        </p:txBody>
      </p:sp>
      <p:sp>
        <p:nvSpPr>
          <p:cNvPr id="18" name="Text 16"/>
          <p:cNvSpPr txBox="1"/>
          <p:nvPr/>
        </p:nvSpPr>
        <p:spPr>
          <a:xfrm>
            <a:off x="914400" y="5468112"/>
            <a:ext cx="103327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70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mismo código, semillas y dataset.npz dieron referencias distintas en tres máquinas del grupo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5B70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(0,225 / 0,241 / 0,244) por orden de las operaciones en punto flotante. Por eso la comparación se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5B70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apoya en la dispersión entre semillas y no en el valor puntual.</a:t>
            </a:r>
            <a:endParaRPr lang="en-US" sz="1100" dirty="0"/>
          </a:p>
        </p:txBody>
      </p:sp>
      <p:sp>
        <p:nvSpPr>
          <p:cNvPr id="19" name="Text 17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70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Generación de datos financieros sintéticos  ·  Taller B5-T1</a:t>
            </a:r>
            <a:endParaRPr lang="en-US" sz="900" dirty="0"/>
          </a:p>
        </p:txBody>
      </p:sp>
      <p:sp>
        <p:nvSpPr>
          <p:cNvPr id="20" name="Text 18"/>
          <p:cNvSpPr txBox="1"/>
          <p:nvPr/>
        </p:nvSpPr>
        <p:spPr>
          <a:xfrm>
            <a:off x="11277295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70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E8EE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D645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 MODELOS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749808"/>
            <a:ext cx="10881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325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Cuatro generadores, todos condicionales por clase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40080" y="1783080"/>
            <a:ext cx="2624328" cy="3246120"/>
          </a:xfrm>
          <a:prstGeom prst="roundRect">
            <a:avLst>
              <a:gd name="adj" fmla="val 348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5400000">
              <a:srgbClr val="9AA7B5">
                <a:alpha val="2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96112" y="2057400"/>
            <a:ext cx="2112264" cy="82296"/>
          </a:xfrm>
          <a:prstGeom prst="roundRect">
            <a:avLst>
              <a:gd name="adj" fmla="val 44444"/>
            </a:avLst>
          </a:prstGeom>
          <a:solidFill>
            <a:srgbClr val="8C8C8C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868680" y="2331720"/>
            <a:ext cx="216712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325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Ruido gaussiano</a:t>
            </a:r>
            <a:endParaRPr lang="en-US" sz="1900" dirty="0"/>
          </a:p>
        </p:txBody>
      </p:sp>
      <p:sp>
        <p:nvSpPr>
          <p:cNvPr id="7" name="Text 5"/>
          <p:cNvSpPr txBox="1"/>
          <p:nvPr/>
        </p:nvSpPr>
        <p:spPr>
          <a:xfrm>
            <a:off x="868680" y="3035808"/>
            <a:ext cx="216712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5B70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perturbación de datos reales</a:t>
            </a:r>
            <a:endParaRPr lang="en-US" sz="1150" dirty="0"/>
          </a:p>
        </p:txBody>
      </p:sp>
      <p:sp>
        <p:nvSpPr>
          <p:cNvPr id="8" name="Text 6"/>
          <p:cNvSpPr txBox="1"/>
          <p:nvPr/>
        </p:nvSpPr>
        <p:spPr>
          <a:xfrm>
            <a:off x="868680" y="4251960"/>
            <a:ext cx="21671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B70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notebook 03</a:t>
            </a:r>
            <a:endParaRPr lang="en-US" sz="1050" dirty="0"/>
          </a:p>
        </p:txBody>
      </p:sp>
      <p:sp>
        <p:nvSpPr>
          <p:cNvPr id="9" name="Text 7"/>
          <p:cNvSpPr txBox="1"/>
          <p:nvPr/>
        </p:nvSpPr>
        <p:spPr>
          <a:xfrm>
            <a:off x="868680" y="4526280"/>
            <a:ext cx="21671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C8C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segundos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3410712" y="1783080"/>
            <a:ext cx="2624328" cy="3246120"/>
          </a:xfrm>
          <a:prstGeom prst="roundRect">
            <a:avLst>
              <a:gd name="adj" fmla="val 348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5400000">
              <a:srgbClr val="9AA7B5">
                <a:alpha val="28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666744" y="2057400"/>
            <a:ext cx="2112264" cy="82296"/>
          </a:xfrm>
          <a:prstGeom prst="roundRect">
            <a:avLst>
              <a:gd name="adj" fmla="val 44444"/>
            </a:avLst>
          </a:prstGeom>
          <a:solidFill>
            <a:srgbClr val="D64550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3639312" y="2331720"/>
            <a:ext cx="216712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325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cGAN</a:t>
            </a:r>
            <a:endParaRPr lang="en-US" sz="1900" dirty="0"/>
          </a:p>
        </p:txBody>
      </p:sp>
      <p:sp>
        <p:nvSpPr>
          <p:cNvPr id="13" name="Text 11"/>
          <p:cNvSpPr txBox="1"/>
          <p:nvPr/>
        </p:nvSpPr>
        <p:spPr>
          <a:xfrm>
            <a:off x="3639312" y="3035808"/>
            <a:ext cx="216712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5B70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adversaria condicional</a:t>
            </a:r>
            <a:endParaRPr lang="en-US" sz="1150" dirty="0"/>
          </a:p>
        </p:txBody>
      </p:sp>
      <p:sp>
        <p:nvSpPr>
          <p:cNvPr id="14" name="Text 12"/>
          <p:cNvSpPr txBox="1"/>
          <p:nvPr/>
        </p:nvSpPr>
        <p:spPr>
          <a:xfrm>
            <a:off x="3639312" y="4251960"/>
            <a:ext cx="21671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B70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notebook 04</a:t>
            </a:r>
            <a:endParaRPr lang="en-US" sz="1050" dirty="0"/>
          </a:p>
        </p:txBody>
      </p:sp>
      <p:sp>
        <p:nvSpPr>
          <p:cNvPr id="15" name="Text 13"/>
          <p:cNvSpPr txBox="1"/>
          <p:nvPr/>
        </p:nvSpPr>
        <p:spPr>
          <a:xfrm>
            <a:off x="3639312" y="4526280"/>
            <a:ext cx="21671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D645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min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6181344" y="1783080"/>
            <a:ext cx="2624328" cy="3246120"/>
          </a:xfrm>
          <a:prstGeom prst="roundRect">
            <a:avLst>
              <a:gd name="adj" fmla="val 348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5400000">
              <a:srgbClr val="9AA7B5">
                <a:alpha val="28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6437376" y="2057400"/>
            <a:ext cx="2112264" cy="82296"/>
          </a:xfrm>
          <a:prstGeom prst="roundRect">
            <a:avLst>
              <a:gd name="adj" fmla="val 44444"/>
            </a:avLst>
          </a:prstGeom>
          <a:solidFill>
            <a:srgbClr val="2E6F9E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6409944" y="2331720"/>
            <a:ext cx="216712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325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CVAE</a:t>
            </a:r>
            <a:endParaRPr lang="en-US" sz="1900" dirty="0"/>
          </a:p>
        </p:txBody>
      </p:sp>
      <p:sp>
        <p:nvSpPr>
          <p:cNvPr id="19" name="Text 17"/>
          <p:cNvSpPr txBox="1"/>
          <p:nvPr/>
        </p:nvSpPr>
        <p:spPr>
          <a:xfrm>
            <a:off x="6409944" y="3035808"/>
            <a:ext cx="216712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5B70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variable latente condicional</a:t>
            </a:r>
            <a:endParaRPr lang="en-US" sz="1150" dirty="0"/>
          </a:p>
        </p:txBody>
      </p:sp>
      <p:sp>
        <p:nvSpPr>
          <p:cNvPr id="20" name="Text 18"/>
          <p:cNvSpPr txBox="1"/>
          <p:nvPr/>
        </p:nvSpPr>
        <p:spPr>
          <a:xfrm>
            <a:off x="6409944" y="4251960"/>
            <a:ext cx="21671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B70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notebook 05</a:t>
            </a:r>
            <a:endParaRPr lang="en-US" sz="1050" dirty="0"/>
          </a:p>
        </p:txBody>
      </p:sp>
      <p:sp>
        <p:nvSpPr>
          <p:cNvPr id="21" name="Text 19"/>
          <p:cNvSpPr txBox="1"/>
          <p:nvPr/>
        </p:nvSpPr>
        <p:spPr>
          <a:xfrm>
            <a:off x="6409944" y="4526280"/>
            <a:ext cx="21671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6F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min</a:t>
            </a:r>
            <a:endParaRPr lang="en-US" sz="1500" dirty="0"/>
          </a:p>
        </p:txBody>
      </p:sp>
      <p:sp>
        <p:nvSpPr>
          <p:cNvPr id="22" name="Shape 20"/>
          <p:cNvSpPr/>
          <p:nvPr/>
        </p:nvSpPr>
        <p:spPr>
          <a:xfrm>
            <a:off x="8951976" y="1783080"/>
            <a:ext cx="2624328" cy="3246120"/>
          </a:xfrm>
          <a:prstGeom prst="roundRect">
            <a:avLst>
              <a:gd name="adj" fmla="val 348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5400000">
              <a:srgbClr val="9AA7B5">
                <a:alpha val="28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9208008" y="2057400"/>
            <a:ext cx="2112264" cy="82296"/>
          </a:xfrm>
          <a:prstGeom prst="roundRect">
            <a:avLst>
              <a:gd name="adj" fmla="val 44444"/>
            </a:avLst>
          </a:prstGeom>
          <a:solidFill>
            <a:srgbClr val="5B8C5A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9180576" y="2331720"/>
            <a:ext cx="216712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325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Difusión</a:t>
            </a:r>
            <a:endParaRPr lang="en-US" sz="1900" dirty="0"/>
          </a:p>
        </p:txBody>
      </p:sp>
      <p:sp>
        <p:nvSpPr>
          <p:cNvPr id="25" name="Text 23"/>
          <p:cNvSpPr txBox="1"/>
          <p:nvPr/>
        </p:nvSpPr>
        <p:spPr>
          <a:xfrm>
            <a:off x="9180576" y="3035808"/>
            <a:ext cx="216712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5B70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difusión condicional</a:t>
            </a:r>
            <a:endParaRPr lang="en-US" sz="1150" dirty="0"/>
          </a:p>
        </p:txBody>
      </p:sp>
      <p:sp>
        <p:nvSpPr>
          <p:cNvPr id="26" name="Text 24"/>
          <p:cNvSpPr txBox="1"/>
          <p:nvPr/>
        </p:nvSpPr>
        <p:spPr>
          <a:xfrm>
            <a:off x="9180576" y="4251960"/>
            <a:ext cx="21671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B70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notebook 06</a:t>
            </a:r>
            <a:endParaRPr lang="en-US" sz="1050" dirty="0"/>
          </a:p>
        </p:txBody>
      </p:sp>
      <p:sp>
        <p:nvSpPr>
          <p:cNvPr id="27" name="Text 25"/>
          <p:cNvSpPr txBox="1"/>
          <p:nvPr/>
        </p:nvSpPr>
        <p:spPr>
          <a:xfrm>
            <a:off x="9180576" y="4526280"/>
            <a:ext cx="21671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5B8C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 min</a:t>
            </a:r>
            <a:endParaRPr lang="en-US" sz="1500" dirty="0"/>
          </a:p>
        </p:txBody>
      </p:sp>
      <p:sp>
        <p:nvSpPr>
          <p:cNvPr id="28" name="Text 26"/>
          <p:cNvSpPr txBox="1"/>
          <p:nvPr/>
        </p:nvSpPr>
        <p:spPr>
          <a:xfrm>
            <a:off x="640080" y="5257800"/>
            <a:ext cx="10881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B70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uno genera 12.000 muestras y se evalúa con el mismo barrido de proporciones {0, 0,25, 0,5, 1, 2, 4}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5B70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sobre el presupuesto real, repitiendo cada configuración con 5 semillas.</a:t>
            </a:r>
            <a:endParaRPr lang="en-US" sz="1250" dirty="0"/>
          </a:p>
        </p:txBody>
      </p:sp>
      <p:sp>
        <p:nvSpPr>
          <p:cNvPr id="29" name="Text 27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70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Generación de datos financieros sintéticos  ·  Taller B5-T1</a:t>
            </a:r>
            <a:endParaRPr lang="en-US" sz="900" dirty="0"/>
          </a:p>
        </p:txBody>
      </p:sp>
      <p:sp>
        <p:nvSpPr>
          <p:cNvPr id="30" name="Text 28"/>
          <p:cNvSpPr txBox="1"/>
          <p:nvPr/>
        </p:nvSpPr>
        <p:spPr>
          <a:xfrm>
            <a:off x="11277295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70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D645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PUNTO DE PARTIDA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749808"/>
            <a:ext cx="10881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325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 red extrae señal — pero no supera a un modelo lineal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40080" y="1691640"/>
            <a:ext cx="3429000" cy="1737360"/>
          </a:xfrm>
          <a:prstGeom prst="roundRect">
            <a:avLst>
              <a:gd name="adj" fmla="val 5263"/>
            </a:avLst>
          </a:prstGeom>
          <a:solidFill>
            <a:srgbClr val="E8EEF5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640080" y="1828800"/>
            <a:ext cx="3429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0B254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0,225</a:t>
            </a:r>
            <a:endParaRPr lang="en-US" sz="4000" dirty="0"/>
          </a:p>
        </p:txBody>
      </p:sp>
      <p:sp>
        <p:nvSpPr>
          <p:cNvPr id="6" name="Text 4"/>
          <p:cNvSpPr txBox="1"/>
          <p:nvPr/>
        </p:nvSpPr>
        <p:spPr>
          <a:xfrm>
            <a:off x="914400" y="2697480"/>
            <a:ext cx="2880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325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PR-AUC test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1325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(CNN, sin sintéticos)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4251960" y="1691640"/>
            <a:ext cx="3429000" cy="1737360"/>
          </a:xfrm>
          <a:prstGeom prst="roundRect">
            <a:avLst>
              <a:gd name="adj" fmla="val 5263"/>
            </a:avLst>
          </a:prstGeom>
          <a:solidFill>
            <a:srgbClr val="E8EEF5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4251960" y="1828800"/>
            <a:ext cx="3429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5B708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0,104</a:t>
            </a:r>
            <a:endParaRPr lang="en-US" sz="4000" dirty="0"/>
          </a:p>
        </p:txBody>
      </p:sp>
      <p:sp>
        <p:nvSpPr>
          <p:cNvPr id="9" name="Text 7"/>
          <p:cNvSpPr txBox="1"/>
          <p:nvPr/>
        </p:nvSpPr>
        <p:spPr>
          <a:xfrm>
            <a:off x="4526280" y="2697480"/>
            <a:ext cx="2880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325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clasificador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1325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información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7863840" y="1691640"/>
            <a:ext cx="3429000" cy="1737360"/>
          </a:xfrm>
          <a:prstGeom prst="roundRect">
            <a:avLst>
              <a:gd name="adj" fmla="val 5263"/>
            </a:avLst>
          </a:prstGeom>
          <a:solidFill>
            <a:srgbClr val="E8EEF5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7863840" y="1828800"/>
            <a:ext cx="3429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D6455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0,350</a:t>
            </a:r>
            <a:endParaRPr lang="en-US" sz="4000" dirty="0"/>
          </a:p>
        </p:txBody>
      </p:sp>
      <p:sp>
        <p:nvSpPr>
          <p:cNvPr id="12" name="Text 10"/>
          <p:cNvSpPr txBox="1"/>
          <p:nvPr/>
        </p:nvSpPr>
        <p:spPr>
          <a:xfrm>
            <a:off x="8138160" y="2697480"/>
            <a:ext cx="2880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325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regresión logística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1325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sobre 6 descriptores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640080" y="3794760"/>
            <a:ext cx="108813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325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regresión logística usa seis descriptores agregados de la ventana —volatilidad, retorno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1325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acumulado, drawdown corriente, mínimo diario, dispersión entre activos, rentabilidad absoluta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1325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media— entrenada sobre el histórico completo. La comparación no es simétrica, pero acota lo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1325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 se está midiendo: la convolución no aporta nada sobre un resumen estadístico sencillo.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640080" y="5166360"/>
            <a:ext cx="10881360" cy="914400"/>
          </a:xfrm>
          <a:prstGeom prst="roundRect">
            <a:avLst>
              <a:gd name="adj" fmla="val 8000"/>
            </a:avLst>
          </a:prstGeom>
          <a:solidFill>
            <a:srgbClr val="0B2545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914400" y="5349240"/>
            <a:ext cx="103327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coeficiente de variación del PR-AUC entre semillas es 0,40 en test frente a 0,06 en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validación: el test cubre un único régimen con solo 8 episodios de estrés.</a:t>
            </a:r>
            <a:endParaRPr lang="en-US" sz="1250" dirty="0"/>
          </a:p>
        </p:txBody>
      </p:sp>
      <p:sp>
        <p:nvSpPr>
          <p:cNvPr id="16" name="Text 14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70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Generación de datos financieros sintéticos  ·  Taller B5-T1</a:t>
            </a:r>
            <a:endParaRPr lang="en-US" sz="900" dirty="0"/>
          </a:p>
        </p:txBody>
      </p:sp>
      <p:sp>
        <p:nvSpPr>
          <p:cNvPr id="17" name="Text 15"/>
          <p:cNvSpPr txBox="1"/>
          <p:nvPr/>
        </p:nvSpPr>
        <p:spPr>
          <a:xfrm>
            <a:off x="11277295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70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D645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RESULTADO CENTRAL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749808"/>
            <a:ext cx="10881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325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PR-AUC en test según la proporción de sintéticos</a:t>
            </a:r>
            <a:endParaRPr lang="en-US" sz="32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640080" y="1554480"/>
          <a:ext cx="7406640" cy="44348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Shape 2"/>
          <p:cNvSpPr/>
          <p:nvPr/>
        </p:nvSpPr>
        <p:spPr>
          <a:xfrm>
            <a:off x="8275320" y="1554480"/>
            <a:ext cx="3246120" cy="4434840"/>
          </a:xfrm>
          <a:prstGeom prst="roundRect">
            <a:avLst>
              <a:gd name="adj" fmla="val 2817"/>
            </a:avLst>
          </a:prstGeom>
          <a:solidFill>
            <a:srgbClr val="0B2545"/>
          </a:solidFill>
          <a:ln/>
        </p:spPr>
      </p:sp>
      <p:sp>
        <p:nvSpPr>
          <p:cNvPr id="6" name="Text 3"/>
          <p:cNvSpPr txBox="1"/>
          <p:nvPr/>
        </p:nvSpPr>
        <p:spPr>
          <a:xfrm>
            <a:off x="8549640" y="178308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8DA9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Lectura</a:t>
            </a:r>
            <a:endParaRPr lang="en-US" sz="1300" dirty="0"/>
          </a:p>
        </p:txBody>
      </p:sp>
      <p:sp>
        <p:nvSpPr>
          <p:cNvPr id="7" name="Text 4"/>
          <p:cNvSpPr txBox="1"/>
          <p:nvPr/>
        </p:nvSpPr>
        <p:spPr>
          <a:xfrm>
            <a:off x="8549640" y="2148840"/>
            <a:ext cx="2697480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Ninguna curva se mantiene por encima de la referencia de forma sostenida.
</a:t>
            </a:r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cGAN </a:t>
            </a:r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el único cuya mejor variación es exactamente cero.
</a:t>
            </a:r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Ruido, CVAE y difusión </a:t>
            </a:r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mejoran algo a proporción 0,25 y degradan a partir de 0,5–1.</a:t>
            </a:r>
            <a:endParaRPr lang="en-US" sz="1250" dirty="0"/>
          </a:p>
        </p:txBody>
      </p:sp>
      <p:sp>
        <p:nvSpPr>
          <p:cNvPr id="8" name="Text 5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70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Generación de datos financieros sintéticos  ·  Taller B5-T1</a:t>
            </a:r>
            <a:endParaRPr lang="en-US" sz="900" dirty="0"/>
          </a:p>
        </p:txBody>
      </p:sp>
      <p:sp>
        <p:nvSpPr>
          <p:cNvPr id="9" name="Text 6"/>
          <p:cNvSpPr txBox="1"/>
          <p:nvPr/>
        </p:nvSpPr>
        <p:spPr>
          <a:xfrm>
            <a:off x="11277295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70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B254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8DA9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CONTRASTE ESTADÍSTICO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749808"/>
            <a:ext cx="10881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¿Alguna de esas subidas resiste el contraste?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822960" y="1828800"/>
            <a:ext cx="33832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200" b="1" dirty="0">
                <a:solidFill>
                  <a:srgbClr val="8DA9C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20</a:t>
            </a:r>
            <a:endParaRPr lang="en-US" sz="82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3246120"/>
            <a:ext cx="3383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DA9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configuraciones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8DA9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contrastadas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4343400" y="1828800"/>
            <a:ext cx="33832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200" b="1" dirty="0">
                <a:solidFill>
                  <a:srgbClr val="D6455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</a:t>
            </a:r>
            <a:endParaRPr lang="en-US" sz="8200" dirty="0"/>
          </a:p>
        </p:txBody>
      </p:sp>
      <p:sp>
        <p:nvSpPr>
          <p:cNvPr id="7" name="Text 5"/>
          <p:cNvSpPr txBox="1"/>
          <p:nvPr/>
        </p:nvSpPr>
        <p:spPr>
          <a:xfrm>
            <a:off x="4343400" y="3246120"/>
            <a:ext cx="3383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DA9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mejoras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8DA9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significativas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7863840" y="1828800"/>
            <a:ext cx="33832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200" b="1" dirty="0">
                <a:solidFill>
                  <a:srgbClr val="F2A0A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</a:t>
            </a:r>
            <a:endParaRPr lang="en-US" sz="8200" dirty="0"/>
          </a:p>
        </p:txBody>
      </p:sp>
      <p:sp>
        <p:nvSpPr>
          <p:cNvPr id="9" name="Text 7"/>
          <p:cNvSpPr txBox="1"/>
          <p:nvPr/>
        </p:nvSpPr>
        <p:spPr>
          <a:xfrm>
            <a:off x="7863840" y="3246120"/>
            <a:ext cx="3383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DA9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degradaciones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8DA9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significativas (p &lt; 0,05)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822960" y="4206240"/>
            <a:ext cx="10515600" cy="13716"/>
          </a:xfrm>
          <a:prstGeom prst="rect">
            <a:avLst/>
          </a:prstGeom>
          <a:solidFill>
            <a:srgbClr val="23406E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822960" y="443484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8DA9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Contraste de medias pareado por semilla frente a la referencia sin sintéticos. Las seis degradaciones: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8DA9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CVAE en validación a proporción 1, 2 y 4 (−0,030 / −0,043 / −0,064); difusión a 0,5 (−0,037); ruido en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8DA9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a proporción 2 (−0,058).</a:t>
            </a:r>
            <a:endParaRPr lang="en-US" sz="1250" dirty="0"/>
          </a:p>
        </p:txBody>
      </p:sp>
      <p:sp>
        <p:nvSpPr>
          <p:cNvPr id="12" name="Text 10"/>
          <p:cNvSpPr txBox="1"/>
          <p:nvPr/>
        </p:nvSpPr>
        <p:spPr>
          <a:xfrm>
            <a:off x="822960" y="5577840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i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 respuesta a la pregunta del taller, con estos generadores y este problema, es que no.</a:t>
            </a:r>
            <a:endParaRPr lang="en-US" sz="17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70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Generación de datos financieros sintéticos  ·  Taller B5-T1</a:t>
            </a:r>
            <a:endParaRPr lang="en-US" sz="900" dirty="0"/>
          </a:p>
        </p:txBody>
      </p:sp>
      <p:sp>
        <p:nvSpPr>
          <p:cNvPr id="14" name="Text 12"/>
          <p:cNvSpPr txBox="1"/>
          <p:nvPr/>
        </p:nvSpPr>
        <p:spPr>
          <a:xfrm>
            <a:off x="11277295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70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D645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CONTRASTE ESTADÍSTICO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749808"/>
            <a:ext cx="10881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325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 misma conclusión, en una imagen</a:t>
            </a:r>
            <a:endParaRPr lang="en-US" sz="3200" dirty="0"/>
          </a:p>
        </p:txBody>
      </p:sp>
      <p:pic>
        <p:nvPicPr>
          <p:cNvPr id="4" name="Image 0" descr="img_mejora_por_model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508760"/>
            <a:ext cx="7360920" cy="4187952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8229600" y="1508760"/>
            <a:ext cx="3291840" cy="4187952"/>
          </a:xfrm>
          <a:prstGeom prst="roundRect">
            <a:avLst>
              <a:gd name="adj" fmla="val 2778"/>
            </a:avLst>
          </a:prstGeom>
          <a:solidFill>
            <a:srgbClr val="0B2545"/>
          </a:solidFill>
          <a:ln/>
        </p:spPr>
      </p:sp>
      <p:sp>
        <p:nvSpPr>
          <p:cNvPr id="6" name="Text 3"/>
          <p:cNvSpPr txBox="1"/>
          <p:nvPr/>
        </p:nvSpPr>
        <p:spPr>
          <a:xfrm>
            <a:off x="8503920" y="173736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8DA9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Cómo leerlo</a:t>
            </a:r>
            <a:endParaRPr lang="en-US" sz="1300" dirty="0"/>
          </a:p>
        </p:txBody>
      </p:sp>
      <p:sp>
        <p:nvSpPr>
          <p:cNvPr id="7" name="Text 4"/>
          <p:cNvSpPr txBox="1"/>
          <p:nvPr/>
        </p:nvSpPr>
        <p:spPr>
          <a:xfrm>
            <a:off x="8503920" y="2103120"/>
            <a:ext cx="274320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barra es la </a:t>
            </a:r>
            <a:pPr indent="0" marL="0">
              <a:lnSpc>
                <a:spcPct val="125000"/>
              </a:lnSpc>
              <a:buNone/>
            </a:pPr>
            <a:r>
              <a:rPr lang="en-US" sz="1250" b="1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mejor</a:t>
            </a:r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variación que consigue ese generador; la línea es cuánto varía entre semillas.
</a:t>
            </a:r>
            <a:pPr indent="0" marL="0">
              <a:lnSpc>
                <a:spcPct val="125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Cuando esa línea cruza el cero</a:t>
            </a:r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la subida no se distingue del ruido de la propia inicialización.
</a:t>
            </a:r>
            <a:pPr indent="0" marL="0">
              <a:lnSpc>
                <a:spcPct val="125000"/>
              </a:lnSpc>
              <a:buNone/>
            </a:pPr>
            <a:r>
              <a:rPr lang="en-US" sz="1250" b="1" dirty="0">
                <a:solidFill>
                  <a:srgbClr val="D645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Las cuatro la cruzan.</a:t>
            </a:r>
            <a:endParaRPr lang="en-US" sz="1250" dirty="0"/>
          </a:p>
        </p:txBody>
      </p:sp>
      <p:sp>
        <p:nvSpPr>
          <p:cNvPr id="8" name="Text 5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70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Generación de datos financieros sintéticos  ·  Taller B5-T1</a:t>
            </a:r>
            <a:endParaRPr lang="en-US" sz="900" dirty="0"/>
          </a:p>
        </p:txBody>
      </p:sp>
      <p:sp>
        <p:nvSpPr>
          <p:cNvPr id="9" name="Text 6"/>
          <p:cNvSpPr txBox="1"/>
          <p:nvPr/>
        </p:nvSpPr>
        <p:spPr>
          <a:xfrm>
            <a:off x="11277295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70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D645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 QUÉ NO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749808"/>
            <a:ext cx="10881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325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Los tres generadores neuronales fallan en lo que importa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536192"/>
            <a:ext cx="10881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B70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drawdown se mide sobre la cartera equiponderada: es la sincronía entre activos —la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5B70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correlación— la que decide su magnitud.</a:t>
            </a:r>
            <a:endParaRPr lang="en-US" sz="14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2331720"/>
          <a:ext cx="10881360" cy="2514600"/>
        </p:xfrm>
        <a:graphic>
          <a:graphicData uri="http://schemas.openxmlformats.org/drawingml/2006/table">
            <a:tbl>
              <a:tblPr/>
              <a:tblGrid>
                <a:gridCol w="3108960"/>
                <a:gridCol w="1943100"/>
                <a:gridCol w="1943100"/>
                <a:gridCol w="1943100"/>
                <a:gridCol w="1943100"/>
              </a:tblGrid>
              <a:tr h="4191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Desviación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Curtosis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Correlación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Novedad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0B2545"/>
                    </a:solidFill>
                  </a:tcPr>
                </a:tc>
              </a:tr>
              <a:tr h="4191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Reales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331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0,241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331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2,20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331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0,266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331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1,00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3315C"/>
                    </a:solidFill>
                  </a:tcPr>
                </a:tc>
              </a:tr>
              <a:tr h="4191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1325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Ruido gaussiano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325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0,248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325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1,83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325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0,249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325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0,22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  <a:tr h="4191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1325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cGAN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E8EE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325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0,281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E8EE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325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2,88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E8EE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325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0,156 ↓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E8EE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325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1,04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E8EEF5"/>
                    </a:solidFill>
                  </a:tcPr>
                </a:tc>
              </a:tr>
              <a:tr h="4191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1325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CVAE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325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0,047 ↓↓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325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1,28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325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0,768 ↑↑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325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0,56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  <a:tr h="4191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1325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Difusión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E8EE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325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0,392 ↑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E8EE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325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0,03 ↓↓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E8EE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325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0,435 ↑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E8EE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325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1,45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E8EEF5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 txBox="1"/>
          <p:nvPr/>
        </p:nvSpPr>
        <p:spPr>
          <a:xfrm>
            <a:off x="640080" y="5074920"/>
            <a:ext cx="108813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325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CVAE genera ventanas casi planas (desviación cinco veces menor, correlación casi triple): los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1325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 activos se mueven al unísono. Es el suavizado característico de un autocodificador variacional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1325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llevado al extremo, y el generador que más daño hace al clasificador.</a:t>
            </a:r>
            <a:endParaRPr lang="en-US" sz="1300" dirty="0"/>
          </a:p>
        </p:txBody>
      </p:sp>
      <p:sp>
        <p:nvSpPr>
          <p:cNvPr id="7" name="Text 4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70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Generación de datos financieros sintéticos  ·  Taller B5-T1</a:t>
            </a:r>
            <a:endParaRPr lang="en-US" sz="900" dirty="0"/>
          </a:p>
        </p:txBody>
      </p:sp>
      <p:sp>
        <p:nvSpPr>
          <p:cNvPr id="8" name="Text 5"/>
          <p:cNvSpPr txBox="1"/>
          <p:nvPr/>
        </p:nvSpPr>
        <p:spPr>
          <a:xfrm>
            <a:off x="11277295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70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E8EE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D645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GIRO FINAL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749808"/>
            <a:ext cx="10881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325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Realismo y utilidad no van de la mano</a:t>
            </a:r>
            <a:endParaRPr lang="en-US" sz="3200" dirty="0"/>
          </a:p>
        </p:txBody>
      </p:sp>
      <p:pic>
        <p:nvPicPr>
          <p:cNvPr id="4" name="Image 0" descr="img_calidad_vs_utilida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481328"/>
            <a:ext cx="10881360" cy="4005072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640080" y="5623560"/>
            <a:ext cx="10881360" cy="713232"/>
          </a:xfrm>
          <a:prstGeom prst="roundRect">
            <a:avLst>
              <a:gd name="adj" fmla="val 1025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7B5">
                <a:alpha val="25000"/>
              </a:srgbClr>
            </a:outerShdw>
          </a:effectLst>
        </p:spPr>
      </p:sp>
      <p:sp>
        <p:nvSpPr>
          <p:cNvPr id="6" name="Text 3"/>
          <p:cNvSpPr txBox="1"/>
          <p:nvPr/>
        </p:nvSpPr>
        <p:spPr>
          <a:xfrm>
            <a:off x="868680" y="5623560"/>
            <a:ext cx="10058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5B70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COSTE →</a:t>
            </a:r>
            <a:endParaRPr lang="en-US" sz="1050" dirty="0"/>
          </a:p>
        </p:txBody>
      </p:sp>
      <p:sp>
        <p:nvSpPr>
          <p:cNvPr id="7" name="Shape 4"/>
          <p:cNvSpPr/>
          <p:nvPr/>
        </p:nvSpPr>
        <p:spPr>
          <a:xfrm>
            <a:off x="2011680" y="5888736"/>
            <a:ext cx="182880" cy="182880"/>
          </a:xfrm>
          <a:prstGeom prst="ellipse">
            <a:avLst/>
          </a:prstGeom>
          <a:solidFill>
            <a:srgbClr val="8C8C8C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2267712" y="5623560"/>
            <a:ext cx="16916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325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Ruido  </a:t>
            </a:r>
            <a:pPr indent="0" marL="0">
              <a:buNone/>
            </a:pPr>
            <a:r>
              <a:rPr lang="en-US" sz="1250" dirty="0">
                <a:solidFill>
                  <a:srgbClr val="5B70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segundos</a:t>
            </a:r>
            <a:endParaRPr lang="en-US" sz="1250" dirty="0"/>
          </a:p>
        </p:txBody>
      </p:sp>
      <p:sp>
        <p:nvSpPr>
          <p:cNvPr id="9" name="Shape 6"/>
          <p:cNvSpPr/>
          <p:nvPr/>
        </p:nvSpPr>
        <p:spPr>
          <a:xfrm>
            <a:off x="3886200" y="5888736"/>
            <a:ext cx="182880" cy="182880"/>
          </a:xfrm>
          <a:prstGeom prst="ellipse">
            <a:avLst/>
          </a:prstGeom>
          <a:solidFill>
            <a:srgbClr val="2E6F9E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4142232" y="5623560"/>
            <a:ext cx="16916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325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CVAE  </a:t>
            </a:r>
            <a:pPr indent="0" marL="0">
              <a:buNone/>
            </a:pPr>
            <a:r>
              <a:rPr lang="en-US" sz="1250" dirty="0">
                <a:solidFill>
                  <a:srgbClr val="5B70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min</a:t>
            </a:r>
            <a:endParaRPr lang="en-US" sz="1250" dirty="0"/>
          </a:p>
        </p:txBody>
      </p:sp>
      <p:sp>
        <p:nvSpPr>
          <p:cNvPr id="11" name="Shape 8"/>
          <p:cNvSpPr/>
          <p:nvPr/>
        </p:nvSpPr>
        <p:spPr>
          <a:xfrm>
            <a:off x="5760720" y="5888736"/>
            <a:ext cx="182880" cy="182880"/>
          </a:xfrm>
          <a:prstGeom prst="ellipse">
            <a:avLst/>
          </a:prstGeom>
          <a:solidFill>
            <a:srgbClr val="D64550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6016752" y="5623560"/>
            <a:ext cx="16916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325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cGAN  </a:t>
            </a:r>
            <a:pPr indent="0" marL="0">
              <a:buNone/>
            </a:pPr>
            <a:r>
              <a:rPr lang="en-US" sz="1250" dirty="0">
                <a:solidFill>
                  <a:srgbClr val="5B70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min</a:t>
            </a:r>
            <a:endParaRPr lang="en-US" sz="1250" dirty="0"/>
          </a:p>
        </p:txBody>
      </p:sp>
      <p:sp>
        <p:nvSpPr>
          <p:cNvPr id="13" name="Shape 10"/>
          <p:cNvSpPr/>
          <p:nvPr/>
        </p:nvSpPr>
        <p:spPr>
          <a:xfrm>
            <a:off x="7635240" y="5888736"/>
            <a:ext cx="182880" cy="182880"/>
          </a:xfrm>
          <a:prstGeom prst="ellipse">
            <a:avLst/>
          </a:prstGeom>
          <a:solidFill>
            <a:srgbClr val="5B8C5A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7891272" y="5623560"/>
            <a:ext cx="16916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325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Difusión  </a:t>
            </a:r>
            <a:pPr indent="0" marL="0">
              <a:buNone/>
            </a:pPr>
            <a:r>
              <a:rPr lang="en-US" sz="1250" dirty="0">
                <a:solidFill>
                  <a:srgbClr val="5B70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 min</a:t>
            </a:r>
            <a:endParaRPr lang="en-US" sz="1250" dirty="0"/>
          </a:p>
        </p:txBody>
      </p:sp>
      <p:sp>
        <p:nvSpPr>
          <p:cNvPr id="15" name="Text 12"/>
          <p:cNvSpPr txBox="1"/>
          <p:nvPr/>
        </p:nvSpPr>
        <p:spPr>
          <a:xfrm>
            <a:off x="9646920" y="5623560"/>
            <a:ext cx="16916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D645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el inverso de la utilidad</a:t>
            </a:r>
            <a:endParaRPr lang="en-US" sz="1050" dirty="0"/>
          </a:p>
        </p:txBody>
      </p:sp>
      <p:sp>
        <p:nvSpPr>
          <p:cNvPr id="16" name="Text 13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70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Generación de datos financieros sintéticos  ·  Taller B5-T1</a:t>
            </a:r>
            <a:endParaRPr lang="en-US" sz="900" dirty="0"/>
          </a:p>
        </p:txBody>
      </p:sp>
      <p:sp>
        <p:nvSpPr>
          <p:cNvPr id="17" name="Text 14"/>
          <p:cNvSpPr txBox="1"/>
          <p:nvPr/>
        </p:nvSpPr>
        <p:spPr>
          <a:xfrm>
            <a:off x="11277295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70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B254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77724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D645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CONCLUSIÓN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1188720"/>
            <a:ext cx="105156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3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Ningún generador justifica su coste</a:t>
            </a:r>
            <a:endParaRPr lang="en-US" sz="36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3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frente a añadir ruido gaussiano</a:t>
            </a:r>
            <a:endParaRPr lang="en-US" sz="3600" dirty="0"/>
          </a:p>
        </p:txBody>
      </p:sp>
      <p:sp>
        <p:nvSpPr>
          <p:cNvPr id="4" name="Text 2"/>
          <p:cNvSpPr txBox="1"/>
          <p:nvPr/>
        </p:nvSpPr>
        <p:spPr>
          <a:xfrm>
            <a:off x="822960" y="3063240"/>
            <a:ext cx="758952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8000"/>
              </a:lnSpc>
              <a:buNone/>
            </a:pPr>
            <a:r>
              <a:rPr lang="en-US" sz="14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problema no está limitado por el volumen de datos</a:t>
            </a:r>
            <a:pPr indent="0" marL="0">
              <a:lnSpc>
                <a:spcPct val="128000"/>
              </a:lnSpc>
              <a:buNone/>
            </a:pPr>
            <a:r>
              <a:rPr lang="en-US" sz="1450" dirty="0">
                <a:solidFill>
                  <a:srgbClr val="8DA9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la curva de aprendizaje del clasificador es plana en validación y descendente en test. Multiplicar por veinte las ventanas reales no mejora el resultado.
</a:t>
            </a:r>
            <a:pPr indent="0" marL="0">
              <a:lnSpc>
                <a:spcPct val="128000"/>
              </a:lnSpc>
              <a:buNone/>
            </a:pPr>
            <a:r>
              <a:rPr lang="en-US" sz="14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 cuatro generadores se entrenan sobre los mismos 51 episodios escasos</a:t>
            </a:r>
            <a:pPr indent="0" marL="0">
              <a:lnSpc>
                <a:spcPct val="128000"/>
              </a:lnSpc>
              <a:buNone/>
            </a:pPr>
            <a:r>
              <a:rPr lang="en-US" sz="1450" dirty="0">
                <a:solidFill>
                  <a:srgbClr val="8DA9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ninguno puede fabricar crisis genuinamente nuevas. O copian el dato real (ruido), o producen novedad que no es estrés realista (cGAN, difusión), o suavizan en exceso (CVAE). Un generador solo ayudaría si aportara variedad que no está en los datos — y eso es justo lo que no puede inventar.</a:t>
            </a:r>
            <a:endParaRPr lang="en-US" sz="1450" dirty="0"/>
          </a:p>
        </p:txBody>
      </p:sp>
      <p:sp>
        <p:nvSpPr>
          <p:cNvPr id="5" name="Shape 3"/>
          <p:cNvSpPr/>
          <p:nvPr/>
        </p:nvSpPr>
        <p:spPr>
          <a:xfrm>
            <a:off x="8778240" y="3063240"/>
            <a:ext cx="2743200" cy="2743200"/>
          </a:xfrm>
          <a:prstGeom prst="roundRect">
            <a:avLst>
              <a:gd name="adj" fmla="val 3333"/>
            </a:avLst>
          </a:prstGeom>
          <a:solidFill>
            <a:srgbClr val="13315C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9006840" y="329184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50" kern="0" dirty="0">
                <a:solidFill>
                  <a:srgbClr val="8DA9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REPOSITORIO</a:t>
            </a:r>
            <a:endParaRPr lang="en-US" sz="1050" dirty="0"/>
          </a:p>
        </p:txBody>
      </p:sp>
      <p:sp>
        <p:nvSpPr>
          <p:cNvPr id="7" name="Text 5"/>
          <p:cNvSpPr txBox="1"/>
          <p:nvPr/>
        </p:nvSpPr>
        <p:spPr>
          <a:xfrm>
            <a:off x="9006840" y="3611880"/>
            <a:ext cx="2286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 notebooks</a:t>
            </a:r>
            <a:endParaRPr lang="en-US" sz="15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reproducibles</a:t>
            </a:r>
            <a:endParaRPr lang="en-US" sz="15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 principio a fin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9006840" y="4617720"/>
            <a:ext cx="2286000" cy="10973"/>
          </a:xfrm>
          <a:prstGeom prst="rect">
            <a:avLst/>
          </a:prstGeom>
          <a:solidFill>
            <a:srgbClr val="2C4B7A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9006840" y="4754880"/>
            <a:ext cx="2286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8DA9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50 figuras · 10 tablas</a:t>
            </a:r>
            <a:endParaRPr lang="en-US" sz="11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8DA9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código genera todo lo</a:t>
            </a:r>
            <a:endParaRPr lang="en-US" sz="11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8DA9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reportado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822960" y="598932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8DA9C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Gracias — preguntas</a:t>
            </a:r>
            <a:endParaRPr lang="en-US" sz="18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70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Generación de datos financieros sintéticos  ·  Taller B5-T1</a:t>
            </a:r>
            <a:endParaRPr lang="en-US" sz="900" dirty="0"/>
          </a:p>
        </p:txBody>
      </p:sp>
      <p:sp>
        <p:nvSpPr>
          <p:cNvPr id="12" name="Text 10"/>
          <p:cNvSpPr txBox="1"/>
          <p:nvPr/>
        </p:nvSpPr>
        <p:spPr>
          <a:xfrm>
            <a:off x="11277295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70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2026-09-03T10:35:38Z</dcterms:created>
  <dcterms:modified xsi:type="dcterms:W3CDTF">2026-09-03T10:35:38Z</dcterms:modified>
</cp:coreProperties>
</file>