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Ruido gaussiano</c:v>
                </c:pt>
              </c:strCache>
            </c:strRef>
          </c:tx>
          <c:spPr>
            <a:solidFill>
              <a:srgbClr val="8C8C8C"/>
            </a:solidFill>
            <a:ln w="31750" cap="flat">
              <a:solidFill>
                <a:srgbClr val="8C8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0,25</c:v>
                  </c:pt>
                  <c:pt idx="2">
                    <c:v>0,5</c:v>
                  </c:pt>
                  <c:pt idx="3">
                    <c:v>1</c:v>
                  </c:pt>
                  <c:pt idx="4">
                    <c:v>2</c:v>
                  </c:pt>
                  <c:pt idx="5">
                    <c:v>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0.225</c:v>
                </c:pt>
                <c:pt idx="1">
                  <c:v>0.267</c:v>
                </c:pt>
                <c:pt idx="2">
                  <c:v>0.191</c:v>
                </c:pt>
                <c:pt idx="3">
                  <c:v>0.217</c:v>
                </c:pt>
                <c:pt idx="4">
                  <c:v>0.167</c:v>
                </c:pt>
                <c:pt idx="5">
                  <c:v>0.164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cGAN</c:v>
                </c:pt>
              </c:strCache>
            </c:strRef>
          </c:tx>
          <c:spPr>
            <a:solidFill>
              <a:srgbClr val="D64550"/>
            </a:solidFill>
            <a:ln w="3175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0,25</c:v>
                  </c:pt>
                  <c:pt idx="2">
                    <c:v>0,5</c:v>
                  </c:pt>
                  <c:pt idx="3">
                    <c:v>1</c:v>
                  </c:pt>
                  <c:pt idx="4">
                    <c:v>2</c:v>
                  </c:pt>
                  <c:pt idx="5">
                    <c:v>4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0.225</c:v>
                </c:pt>
                <c:pt idx="1">
                  <c:v>0.215</c:v>
                </c:pt>
                <c:pt idx="2">
                  <c:v>0.153</c:v>
                </c:pt>
                <c:pt idx="3">
                  <c:v>0.187</c:v>
                </c:pt>
                <c:pt idx="4">
                  <c:v>0.212</c:v>
                </c:pt>
                <c:pt idx="5">
                  <c:v>0.207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CVAE</c:v>
                </c:pt>
              </c:strCache>
            </c:strRef>
          </c:tx>
          <c:spPr>
            <a:solidFill>
              <a:srgbClr val="2E6F9E"/>
            </a:solidFill>
            <a:ln w="31750" cap="flat">
              <a:solidFill>
                <a:srgbClr val="2E6F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6F9E"/>
              </a:solidFill>
              <a:ln w="9525" cap="flat">
                <a:solidFill>
                  <a:srgbClr val="2E6F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0,25</c:v>
                  </c:pt>
                  <c:pt idx="2">
                    <c:v>0,5</c:v>
                  </c:pt>
                  <c:pt idx="3">
                    <c:v>1</c:v>
                  </c:pt>
                  <c:pt idx="4">
                    <c:v>2</c:v>
                  </c:pt>
                  <c:pt idx="5">
                    <c:v>4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0.225</c:v>
                </c:pt>
                <c:pt idx="1">
                  <c:v>0.257</c:v>
                </c:pt>
                <c:pt idx="2">
                  <c:v>0.234</c:v>
                </c:pt>
                <c:pt idx="3">
                  <c:v>0.222</c:v>
                </c:pt>
                <c:pt idx="4">
                  <c:v>0.219</c:v>
                </c:pt>
                <c:pt idx="5">
                  <c:v>0.207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Difusión</c:v>
                </c:pt>
              </c:strCache>
            </c:strRef>
          </c:tx>
          <c:spPr>
            <a:solidFill>
              <a:srgbClr val="5B8C5A"/>
            </a:solidFill>
            <a:ln w="31750" cap="flat">
              <a:solidFill>
                <a:srgbClr val="5B8C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8C5A"/>
              </a:solidFill>
              <a:ln w="9525" cap="flat">
                <a:solidFill>
                  <a:srgbClr val="5B8C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0,25</c:v>
                  </c:pt>
                  <c:pt idx="2">
                    <c:v>0,5</c:v>
                  </c:pt>
                  <c:pt idx="3">
                    <c:v>1</c:v>
                  </c:pt>
                  <c:pt idx="4">
                    <c:v>2</c:v>
                  </c:pt>
                  <c:pt idx="5">
                    <c:v>4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0.225</c:v>
                </c:pt>
                <c:pt idx="1">
                  <c:v>0.254</c:v>
                </c:pt>
                <c:pt idx="2">
                  <c:v>0.22</c:v>
                </c:pt>
                <c:pt idx="3">
                  <c:v>0.188</c:v>
                </c:pt>
                <c:pt idx="4">
                  <c:v>0.164</c:v>
                </c:pt>
                <c:pt idx="5">
                  <c:v>0.224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708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7089"/>
                    </a:solidFill>
                    <a:latin typeface="Arial"/>
                  </a:rPr>
                  <a:t>proporción de sintéticos sobre el presupuesto real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0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.1"/>
        </c:scaling>
        <c:delete val="0"/>
        <c:axPos val="l"/>
        <c:majorGridlines>
          <c:spPr>
            <a:ln w="12700" cap="flat">
              <a:solidFill>
                <a:srgbClr val="DDE4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708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7089"/>
                    </a:solidFill>
                    <a:latin typeface="Arial"/>
                  </a:rPr>
                  <a:t>PR-AUC (test)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0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25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 rot="-2132261">
            <a:off x="7863840" y="5120640"/>
            <a:ext cx="786597" cy="0"/>
          </a:xfrm>
          <a:prstGeom prst="line">
            <a:avLst/>
          </a:prstGeom>
          <a:noFill/>
          <a:ln w="27940">
            <a:solidFill>
              <a:srgbClr val="2340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93903">
            <a:off x="8503920" y="4663440"/>
            <a:ext cx="613398" cy="0"/>
          </a:xfrm>
          <a:prstGeom prst="line">
            <a:avLst/>
          </a:prstGeom>
          <a:noFill/>
          <a:ln w="27940">
            <a:solidFill>
              <a:srgbClr val="234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3300479">
            <a:off x="9052560" y="4937760"/>
            <a:ext cx="1116167" cy="0"/>
          </a:xfrm>
          <a:prstGeom prst="line">
            <a:avLst/>
          </a:prstGeom>
          <a:noFill/>
          <a:ln w="27940">
            <a:solidFill>
              <a:srgbClr val="2340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388334">
            <a:off x="9692640" y="4023360"/>
            <a:ext cx="714169" cy="0"/>
          </a:xfrm>
          <a:prstGeom prst="line">
            <a:avLst/>
          </a:prstGeom>
          <a:noFill/>
          <a:ln w="27940">
            <a:solidFill>
              <a:srgbClr val="2340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3913492">
            <a:off x="10241280" y="4480560"/>
            <a:ext cx="1309222" cy="0"/>
          </a:xfrm>
          <a:prstGeom prst="line">
            <a:avLst/>
          </a:prstGeom>
          <a:noFill/>
          <a:ln w="27940">
            <a:solidFill>
              <a:srgbClr val="2340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436078">
            <a:off x="10789920" y="3291840"/>
            <a:ext cx="843035" cy="0"/>
          </a:xfrm>
          <a:prstGeom prst="line">
            <a:avLst/>
          </a:prstGeom>
          <a:noFill/>
          <a:ln w="27940">
            <a:solidFill>
              <a:srgbClr val="234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4166637">
            <a:off x="11430000" y="3840480"/>
            <a:ext cx="1562527" cy="0"/>
          </a:xfrm>
          <a:prstGeom prst="line">
            <a:avLst/>
          </a:prstGeom>
          <a:noFill/>
          <a:ln w="27940">
            <a:solidFill>
              <a:srgbClr val="234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55480" y="3913632"/>
            <a:ext cx="146304" cy="14630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B5-T1  ·  MIAX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14884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Generación de datos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financieros sintéticos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7947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la generación sintética compensar la escasez de episodios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caída severa en el mercado?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709160"/>
            <a:ext cx="457200" cy="2743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Raúl Rodríguez  ·  Pietro  ·  Alonso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212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septiembre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Anticipar una caída severa del S&amp;P 500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la ventana de rentabilidades de los últimos 60 días, predecir si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cartera sufrirá un retroceso pronunciado durante los 30 días siguientes.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78024"/>
            <a:ext cx="82296" cy="38404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4231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valores del S&amp;P 500 con historia completa desde 1962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82296" cy="38404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990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 X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9900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60 sesiones × 23 activos de rentabilidades logarítmicas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82296" cy="38404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35570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 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355701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 el drawdown a 30 días supera el −7,91 % · umbral calibrado solo con train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178808"/>
            <a:ext cx="82296" cy="38404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41239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412394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1D — idéntica arquitectura en las 4 configuraciones comparadas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745736"/>
            <a:ext cx="82296" cy="38404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4690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46908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sobre la clase positiva (no accuracy: clase minoritaria)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915400" y="5074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8EEF5"/>
          </a:solidFill>
          <a:ln/>
          <a:effectLst>
            <a:outerShdw sx="100000" sy="100000" kx="0" ky="0" algn="bl" rotWithShape="0" blurRad="101600" dist="38100" dir="5400000">
              <a:srgbClr val="9AA7B5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915400" y="51480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16.180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574243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ventanas  ·  10 % positivas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datos financieros sintéticos  ·  Taller B5-T1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PROBLEMA FINANCIERO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un evento raro, no predecir un promedio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este trabajo: </a:t>
            </a:r>
            <a:pPr indent="0" marL="0">
              <a:buNone/>
            </a:pPr>
            <a:r>
              <a:rPr lang="en-US" sz="155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si la cartera va a sufrir una caída severa en los 30 días siguientes.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9339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parte del ejercicio de la sesión 1 —mismo S&amp;P 500, misma ventana de 60 días, misma red convolucional—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se cambia lo que se predice, y esa reformulación no es cosmética: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24912"/>
          <a:ext cx="10881360" cy="2011680"/>
        </p:xfrm>
        <a:graphic>
          <a:graphicData uri="http://schemas.openxmlformats.org/drawingml/2006/table">
            <a:tbl>
              <a:tblPr/>
              <a:tblGrid>
                <a:gridCol w="2651760"/>
                <a:gridCol w="4114800"/>
                <a:gridCol w="41148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Sesión 1 (ejercicio guiado)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 trabajo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predice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 media a 30 días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caída severa a 30 días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problema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 de un evento raro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aleatoria (train_test_split)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cronológica, con embargo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Escasez de datos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70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ninguna: etiqueta continua siempre válida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51 episodios en 45 años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93776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0B254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510235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media no escasea nunca.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Reformular el problema como detección de un evento raro es lo que crea la escasez de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que el resto del taller analiza: es la razón concreta por la que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problema necesita datos sintéticos y el de la sesión 1 no.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datos financieros sintéticos  ·  Taller B5-T1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JUSTIFICACIÓN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1.137 ventanas positivas son, en realidad, 51 episodios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ventanas separadas por un día comparten 59 de sus 60 sesiones. 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recuento que importa no es el de ventanas, sino el de episodios independientes.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166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7B5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67919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1.137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6118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ventanas positivas en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de entrenamiento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1148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que en apariencia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indica escasez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2423160"/>
            <a:ext cx="5166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7B5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2679192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62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61188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episodios de crisis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independientes en 45 años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41148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test: 243 ventanas son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8 episodios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73659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los tramos recientes del entrenamiento no contienen ningún episodio: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102352"/>
            <a:ext cx="3429000" cy="713232"/>
          </a:xfrm>
          <a:prstGeom prst="roundRect">
            <a:avLst>
              <a:gd name="adj" fmla="val 7692"/>
            </a:avLst>
          </a:prstGeom>
          <a:solidFill>
            <a:srgbClr val="FBE9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5148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500 ventanas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5413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positivas  (0,0 %)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51960" y="5102352"/>
            <a:ext cx="3429000" cy="713232"/>
          </a:xfrm>
          <a:prstGeom prst="roundRect">
            <a:avLst>
              <a:gd name="adj" fmla="val 7692"/>
            </a:avLst>
          </a:prstGeom>
          <a:solidFill>
            <a:srgbClr val="FBE9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16552" y="5148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1.000 ventanas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416552" y="5413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positivas  (0,0 %)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63840" y="5102352"/>
            <a:ext cx="3429000" cy="713232"/>
          </a:xfrm>
          <a:prstGeom prst="roundRect">
            <a:avLst>
              <a:gd name="adj" fmla="val 7692"/>
            </a:avLst>
          </a:prstGeom>
          <a:solidFill>
            <a:srgbClr val="E9F3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28432" y="5148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2.000 ventanas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028432" y="5413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 positivas  (12,8 %)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datos financieros sintéticos  ·  Taller B5-T1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decisiones que sostienen la comparación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642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cronológica con embargo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1962–2007 · validación 2007–2016 · test 2017–2026, separados por un hueco de 90 sesiones. Un reparto aleatorio de ventanas solapadas infla las métricas.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15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generadores solo ven el presupuesto real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1089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3.000 ventanas de entrenamiento que el clasificador, nunca el histórico completo, nunca validación o test.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767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protocolo únicos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160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CNN para las 4 configuraciones; búsqueda de arquitectura sobre datos reales (10 configuraciones, mejora +0,017 frente a dispersión 0,066 entre semillas — no se cambia).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8EE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193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Determinismo, con un matiz honesto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468112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código, semillas y dataset.npz dieron referencias distintas en tres máquinas del grupo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(0,225 / 0,241 / 0,244) por orden de las operaciones en punto flotante. Por eso la comparación 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 en la dispersión entre semillas y no en el valor puntual.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datos financieros sintéticos  ·  Taller B5-T1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generadores, todos condicionales por clase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24328" cy="324612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57400"/>
            <a:ext cx="2112264" cy="82296"/>
          </a:xfrm>
          <a:prstGeom prst="roundRect">
            <a:avLst>
              <a:gd name="adj" fmla="val 44444"/>
            </a:avLst>
          </a:prstGeom>
          <a:solidFill>
            <a:srgbClr val="8C8C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Ruido gaussiano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35808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perturbación de datos reales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2628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10712" y="1783080"/>
            <a:ext cx="2624328" cy="324612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B5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6744" y="2057400"/>
            <a:ext cx="2112264" cy="82296"/>
          </a:xfrm>
          <a:prstGeom prst="roundRect">
            <a:avLst>
              <a:gd name="adj" fmla="val 44444"/>
            </a:avLst>
          </a:prstGeom>
          <a:solidFill>
            <a:srgbClr val="D645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9312" y="233172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cGAN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035808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 condicional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4251960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04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639312" y="452628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81344" y="1783080"/>
            <a:ext cx="2624328" cy="324612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B5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37376" y="2057400"/>
            <a:ext cx="2112264" cy="82296"/>
          </a:xfrm>
          <a:prstGeom prst="roundRect">
            <a:avLst>
              <a:gd name="adj" fmla="val 44444"/>
            </a:avLst>
          </a:prstGeom>
          <a:solidFill>
            <a:srgbClr val="2E6F9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9944" y="233172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CVAE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3035808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latente condicional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4251960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05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452628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51976" y="1783080"/>
            <a:ext cx="2624328" cy="324612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B5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08008" y="2057400"/>
            <a:ext cx="2112264" cy="82296"/>
          </a:xfrm>
          <a:prstGeom prst="roundRect">
            <a:avLst>
              <a:gd name="adj" fmla="val 44444"/>
            </a:avLst>
          </a:prstGeom>
          <a:solidFill>
            <a:srgbClr val="5B8C5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80576" y="2331720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Difusión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9180576" y="3035808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difusión condicional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4251960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06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180576" y="452628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genera 12.000 muestras y se evalúa con el mismo barrido de proporciones {0, 0,25, 0,5, 1, 2, 4}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presupuesto real, repitiendo cada configuración con 5 semillas.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datos financieros sintéticos  ·  Taller B5-T1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red extrae señal — pero no supera a un modelo lineal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E8EE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0,225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(CNN, sin sintéticos)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E8EE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51960" y="18288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70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0,104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6974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información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6916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E8EE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0" y="18288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0,350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6974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6 descriptores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947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regresión logística usa seis descriptores agregados de la ventana —volatilidad, retorno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acumulado, drawdown corriente, mínimo diario, dispersión entre activos, rentabilidad absoluta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media— entrenada sobre el histórico completo. La comparación no es simétrica, pero acota lo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está midiendo: la convolución no aporta nada sobre un resumen estadístico sencillo.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53492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coeficiente de variación del PR-AUC entre semillas es 0,40 en test frente a 0,06 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validación: el test cubre un único régimen con solo 8 episodios de estrés.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datos financieros sintéticos  ·  Taller B5-T1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CENTRAL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PR-AUC en test según la proporción de sintéticos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7406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554480"/>
            <a:ext cx="3246120" cy="4434840"/>
          </a:xfrm>
          <a:prstGeom prst="roundRect">
            <a:avLst>
              <a:gd name="adj" fmla="val 2817"/>
            </a:avLst>
          </a:prstGeom>
          <a:solidFill>
            <a:srgbClr val="0B254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496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2148840"/>
            <a:ext cx="2697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curva se mantiene por encima de la referencia de forma sostenida.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cGAN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único cuya mejor variación es exactamente cero.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Ruido, CVAE y difusión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mejoran algo a proporción 0,25 y degradan a partir de 0,5–1.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datos financieros sintéticos  ·  Taller B5-T1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ESTADÍSTICO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¿Alguna de esas subidas resiste el contraste?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8DA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8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contrastadas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8288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82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3246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8288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2A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8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246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degradaciones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significativas (p &lt; 0,05)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10515600" cy="13716"/>
          </a:xfrm>
          <a:prstGeom prst="rect">
            <a:avLst/>
          </a:prstGeom>
          <a:solidFill>
            <a:srgbClr val="2340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434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de medias pareado por semilla frente a la referencia sin sintéticos. Las seis degradaciones: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CVAE en validación a proporción 1, 2 y 4 (−0,030 / −0,043 / −0,064); difusión a 0,5 (−0,037); ruido 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proporción 2 (−0,058).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respuesta a la pregunta del taller, con estos generadores y este problema, es que no.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datos financieros sintéticos  ·  Taller B5-T1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generadores neuronales fallan en lo que importa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3619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drawdown se mide sobre la cartera equiponderada: es la sincronía entre activos —la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correlación— la que decide su magnitud.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0881360" cy="2514600"/>
        </p:xfrm>
        <a:graphic>
          <a:graphicData uri="http://schemas.openxmlformats.org/drawingml/2006/table">
            <a:tbl>
              <a:tblPr/>
              <a:tblGrid>
                <a:gridCol w="3108960"/>
                <a:gridCol w="1943100"/>
                <a:gridCol w="1943100"/>
                <a:gridCol w="1943100"/>
                <a:gridCol w="1943100"/>
              </a:tblGrid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Desviación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Curtosis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315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Ruido gaussiano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0,156 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0,047 ↓↓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0,768 ↑↑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Difusión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0,392 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 ↓↓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0,435 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07492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CVAE genera ventanas casi planas (desviación cinco veces menor, correlación casi triple): los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activos se mueven al unísono. Es el suavizado característico de un autocodificador variacional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llevado al extremo, y el generador que más daño hace al clasificador.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datos financieros sintéticos  ·  Taller B5-T1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GIRO FINAL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Realismo y utilidad no van de la mano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cGAN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mejor la distribución marginal —dispersión y curtosis casi exactas— y es el único cuya novedad se sitúa justo en la distancia entre dos ventanas reales. También es el único cuya mejor variación es exactamente cero.
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difusión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las muestras más alejadas del conjunto de entrenamiento y tampoco aporta nada: esa distancia mide alejamiento de la distribución real, no exploración de regiones plausibles.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269480" y="1691640"/>
            <a:ext cx="42519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7B5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543800" y="19202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computacional (creciente)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43800" y="2423160"/>
            <a:ext cx="201168" cy="201168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0" y="2377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784080" y="2377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43800" y="2898648"/>
            <a:ext cx="201168" cy="201168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0" y="28529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0" y="2852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43800" y="3374136"/>
            <a:ext cx="201168" cy="20116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0" y="332841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0" y="33284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43800" y="3849624"/>
            <a:ext cx="201168" cy="201168"/>
          </a:xfrm>
          <a:prstGeom prst="ellipse">
            <a:avLst/>
          </a:prstGeom>
          <a:solidFill>
            <a:srgbClr val="5B8C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0" y="38039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Difusión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0" y="38039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43800" y="4325112"/>
            <a:ext cx="3703320" cy="10973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43800" y="450799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coste resulta ser exactamente el inverso al de utilidad.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datos financieros sintéticos  ·  Taller B5-T1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Ningún generador justifica su coste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 a añadir ruido gaussiano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7589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está limitado por el volumen de datos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 curva de aprendizaje del clasificador es plana en validación y descendente en test. Multiplicar por veinte las ventanas reales no mejora el resultado.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escasea es la variedad de episodios de estrés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51 en 45 años. Un generador solo ayudaría si produjese episodios plausibles y distintos de los observados. Ninguno de los tres lo consigue: fallan precisamente en la correlación entre activos, la propiedad que determina el drawdown.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778240" y="306324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1331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00684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0684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notebooks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principio a fin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06840" y="4617720"/>
            <a:ext cx="2286000" cy="10973"/>
          </a:xfrm>
          <a:prstGeom prst="rect">
            <a:avLst/>
          </a:prstGeom>
          <a:solidFill>
            <a:srgbClr val="2C4B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006840" y="4754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31+ figuras · 9 tablas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genera todo lo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reportado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DA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— preguntas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datos financieros sintéticos  ·  Taller B5-T1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2026-09-02T16:21:59Z</dcterms:created>
  <dcterms:modified xsi:type="dcterms:W3CDTF">2026-09-02T16:21:59Z</dcterms:modified>
</cp:coreProperties>
</file>