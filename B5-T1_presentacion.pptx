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2DFE67-2DCE-445B-B535-088A55D5F630}">
  <a:tblStyle styleId="{C02DFE67-2DCE-445B-B535-088A55D5F6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STER_LIGHT">
  <p:cSld name="MASTER_LIGHT"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2545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" name="Google Shape;18;p4"/>
          <p:cNvCxnSpPr/>
          <p:nvPr/>
        </p:nvCxnSpPr>
        <p:spPr>
          <a:xfrm rot="-2132261">
            <a:off x="7863840" y="5120640"/>
            <a:ext cx="78659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" name="Google Shape;19;p4"/>
          <p:cNvCxnSpPr/>
          <p:nvPr/>
        </p:nvCxnSpPr>
        <p:spPr>
          <a:xfrm rot="1593903">
            <a:off x="8503920" y="4663440"/>
            <a:ext cx="613398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" name="Google Shape;20;p4"/>
          <p:cNvCxnSpPr/>
          <p:nvPr/>
        </p:nvCxnSpPr>
        <p:spPr>
          <a:xfrm rot="-3300479">
            <a:off x="9052560" y="4937760"/>
            <a:ext cx="111616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" name="Google Shape;21;p4"/>
          <p:cNvCxnSpPr/>
          <p:nvPr/>
        </p:nvCxnSpPr>
        <p:spPr>
          <a:xfrm rot="2388334">
            <a:off x="9692640" y="4023360"/>
            <a:ext cx="714169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4"/>
          <p:cNvCxnSpPr/>
          <p:nvPr/>
        </p:nvCxnSpPr>
        <p:spPr>
          <a:xfrm rot="-3913492">
            <a:off x="10241280" y="4480560"/>
            <a:ext cx="1309222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 rot="2436078">
            <a:off x="10789920" y="3291840"/>
            <a:ext cx="843035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 rot="-4166637">
            <a:off x="11430000" y="3840480"/>
            <a:ext cx="156252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/>
          <p:nvPr/>
        </p:nvSpPr>
        <p:spPr>
          <a:xfrm>
            <a:off x="9555480" y="3913632"/>
            <a:ext cx="146304" cy="146304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4"/>
          <p:cNvSpPr txBox="1"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TALLER B5-T1  ·  MIAX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777240" y="2148840"/>
            <a:ext cx="8778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Generación de datos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financieros sintéticos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¿Puede la generación sintética compensar la escasez de episodios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de caída severa en el mercado?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822960" y="4709160"/>
            <a:ext cx="457200" cy="27432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 txBox="1"/>
          <p:nvPr/>
        </p:nvSpPr>
        <p:spPr>
          <a:xfrm>
            <a:off x="822960" y="4846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Raúl  ·  Pietro  ·  Alonso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Anticipar una caída severa del S&amp;P 500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 partir de la ventana de rentabilidades de los últimos 60 días, predecir si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 cartera sufrirá un retroceso pronunciado durante los 30 días siguientes.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640080" y="2478024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5"/>
          <p:cNvSpPr txBox="1"/>
          <p:nvPr/>
        </p:nvSpPr>
        <p:spPr>
          <a:xfrm>
            <a:off x="896112" y="2423160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Universo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 txBox="1"/>
          <p:nvPr/>
        </p:nvSpPr>
        <p:spPr>
          <a:xfrm>
            <a:off x="3246120" y="2423160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23 valores del S&amp;P 500 con historia completa desde 1962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640080" y="3044952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 txBox="1"/>
          <p:nvPr/>
        </p:nvSpPr>
        <p:spPr>
          <a:xfrm>
            <a:off x="896112" y="2990088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Entrada  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3246120" y="299008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ventana de 60 sesiones × 23 activos de rentabilidades logarítmicas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640080" y="3611880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896112" y="35570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Etiqueta  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3246120" y="3557016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 si el drawdown a 30 días supera el −7,91 % · umbral calibrado solo con train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640080" y="4178808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 txBox="1"/>
          <p:nvPr/>
        </p:nvSpPr>
        <p:spPr>
          <a:xfrm>
            <a:off x="896112" y="4123944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Clasificador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3246120" y="4123944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CNN 1D — idéntica arquitectura en las 4 configuraciones comparadas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640080" y="4745736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 txBox="1"/>
          <p:nvPr/>
        </p:nvSpPr>
        <p:spPr>
          <a:xfrm>
            <a:off x="896112" y="469087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3246120" y="4690872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PR-AUC sobre la clase positiva (no accuracy: clase minoritaria)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8915400" y="5074920"/>
            <a:ext cx="2606040" cy="1234440"/>
          </a:xfrm>
          <a:prstGeom prst="roundRect">
            <a:avLst>
              <a:gd fmla="val 5926" name="adj"/>
            </a:avLst>
          </a:prstGeom>
          <a:solidFill>
            <a:srgbClr val="E8EEF5"/>
          </a:solidFill>
          <a:ln>
            <a:noFill/>
          </a:ln>
          <a:effectLst>
            <a:outerShdw blurRad="101600" rotWithShape="0" algn="bl" dir="5400000" dist="38100">
              <a:srgbClr val="9AA7B5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 txBox="1"/>
          <p:nvPr/>
        </p:nvSpPr>
        <p:spPr>
          <a:xfrm>
            <a:off x="8915400" y="514807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16.180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8915400" y="57424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ventanas  ·  10 % positivas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6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CÓMO SE LEE LA ETIQUETA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2800"/>
              <a:buFont typeface="Cambria"/>
              <a:buNone/>
            </a:pPr>
            <a:r>
              <a:rPr b="1" lang="en-US" sz="28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¿Por qué</a:t>
            </a:r>
            <a:r>
              <a:rPr b="1" i="0" lang="en-US" sz="28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 −7,91 % </a:t>
            </a:r>
            <a:r>
              <a:rPr b="1" lang="en-US" sz="28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640075" y="1554475"/>
            <a:ext cx="10019700" cy="2971800"/>
          </a:xfrm>
          <a:prstGeom prst="roundRect">
            <a:avLst>
              <a:gd fmla="val 3077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 txBox="1"/>
          <p:nvPr/>
        </p:nvSpPr>
        <p:spPr>
          <a:xfrm>
            <a:off x="929962" y="1755650"/>
            <a:ext cx="1036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EN ESTE TRABAJO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929912" y="2057400"/>
            <a:ext cx="10362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11.326 ventanas de entrenamiento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929890" y="2441390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6"/>
          <p:cNvSpPr txBox="1"/>
          <p:nvPr/>
        </p:nvSpPr>
        <p:spPr>
          <a:xfrm>
            <a:off x="929890" y="2441390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1359658" y="2423102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Se decide marcar como estrés el 10 % peor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929890" y="2926022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929890" y="2926022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1359658" y="2907734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Se ordenan los drawdowns de peor a mejor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929890" y="3410654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 txBox="1"/>
          <p:nvPr/>
        </p:nvSpPr>
        <p:spPr>
          <a:xfrm>
            <a:off x="929890" y="3410654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 txBox="1"/>
          <p:nvPr/>
        </p:nvSpPr>
        <p:spPr>
          <a:xfrm>
            <a:off x="1359658" y="3392366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La ventana nº1.133 desde abajo cae −7,91 %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929890" y="3895286"/>
            <a:ext cx="292500" cy="292500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 txBox="1"/>
          <p:nvPr/>
        </p:nvSpPr>
        <p:spPr>
          <a:xfrm>
            <a:off x="929890" y="3895286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1359658" y="3876998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0A6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2A0A6"/>
                </a:solidFill>
                <a:latin typeface="Calibri"/>
                <a:ea typeface="Calibri"/>
                <a:cs typeface="Calibri"/>
                <a:sym typeface="Calibri"/>
              </a:rPr>
              <a:t>El corte de estrés queda en −7,91 %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" name="Google Shape;83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7875" y="2325850"/>
            <a:ext cx="5727868" cy="1642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NUESTRO PROBLEMA FINANCIERO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Detectar un evento raro, no predecir un promedio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 txBox="1"/>
          <p:nvPr/>
        </p:nvSpPr>
        <p:spPr>
          <a:xfrm>
            <a:off x="640080" y="1481328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problema de este trabajo: </a:t>
            </a:r>
            <a:r>
              <a:rPr b="1" i="0" lang="en-US" sz="15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anticipar si la cartera va a sufrir una caída severa en los 30 días siguientes.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 txBox="1"/>
          <p:nvPr/>
        </p:nvSpPr>
        <p:spPr>
          <a:xfrm>
            <a:off x="640080" y="1993392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Se parte del ejercicio de la sesión 1 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mismo S&amp;P 500, misma ventana de 60 días, misma red convolucional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ambia lo que se predice: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3" name="Google Shape;93;p7"/>
          <p:cNvGraphicFramePr/>
          <p:nvPr/>
        </p:nvGraphicFramePr>
        <p:xfrm>
          <a:off x="640080" y="2724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{C02DFE67-2DCE-445B-B535-088A55D5F630}</a:tableStyleId>
              </a:tblPr>
              <a:tblGrid>
                <a:gridCol w="2651750"/>
                <a:gridCol w="4114800"/>
                <a:gridCol w="4114800"/>
              </a:tblGrid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50"/>
                        <a:buFont typeface="Calibri"/>
                        <a:buNone/>
                      </a:pPr>
                      <a:r>
                        <a:t/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 (ejercicio guiado)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 trabajo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predice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rentabilidad media a 30 días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caída severa a 30 días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de problema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clasificación de un evento raro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aleatoria (train_test_split)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cronológica, con embargo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Escasez de datos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ninguna: etiqueta continua siempre válida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real: 51 episodios en 45 años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Google Shape;94;p7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fmla="val 6400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7"/>
          <p:cNvSpPr txBox="1"/>
          <p:nvPr/>
        </p:nvSpPr>
        <p:spPr>
          <a:xfrm>
            <a:off x="914400" y="5102352"/>
            <a:ext cx="10332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La rentabilidad media no escasea nunca. Reformular el problema como detección de un evento raro es lo que crea la escasez de</a:t>
            </a:r>
            <a:r>
              <a:rPr lang="en-US" sz="1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datos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LA JUSTIFICACIÓN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8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1.137 ventanas positivas son, en realidad, 51 episodios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Dos ventanas separadas por un día comparten 59 de sus 60 sesiones. El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recuento que importa no es el de ventanas, sino el de episodios independientes.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/>
          <p:nvPr/>
        </p:nvSpPr>
        <p:spPr>
          <a:xfrm>
            <a:off x="640080" y="2423160"/>
            <a:ext cx="5166360" cy="2103120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9AA7B5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"/>
          <p:cNvSpPr txBox="1"/>
          <p:nvPr/>
        </p:nvSpPr>
        <p:spPr>
          <a:xfrm>
            <a:off x="640080" y="2679192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6200"/>
              <a:buFont typeface="Cambria"/>
              <a:buNone/>
            </a:pPr>
            <a:r>
              <a:rPr b="1" i="0" lang="en-US" sz="62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1.137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8"/>
          <p:cNvSpPr txBox="1"/>
          <p:nvPr/>
        </p:nvSpPr>
        <p:spPr>
          <a:xfrm>
            <a:off x="1005840" y="3611880"/>
            <a:ext cx="4434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ventanas positivas en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conjunto de entrenamiento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1005840" y="4114800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cifra que en apariencia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 indica escasez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6355080" y="2423160"/>
            <a:ext cx="5166360" cy="2103120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9AA7B5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8"/>
          <p:cNvSpPr txBox="1"/>
          <p:nvPr/>
        </p:nvSpPr>
        <p:spPr>
          <a:xfrm>
            <a:off x="6355080" y="2679192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6200"/>
              <a:buFont typeface="Cambria"/>
              <a:buNone/>
            </a:pPr>
            <a:r>
              <a:rPr b="1" i="0" lang="en-US" sz="62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51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720840" y="3611880"/>
            <a:ext cx="4434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episodios de crisis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independientes en 45 años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 txBox="1"/>
          <p:nvPr/>
        </p:nvSpPr>
        <p:spPr>
          <a:xfrm>
            <a:off x="6720840" y="4114800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en test: 243 ventanas son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solo 8 episodios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640080" y="473659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Y los tramos recientes del entrenamiento no contienen ningún episodio: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64008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FBE9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80467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500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80467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0 positivas  (0,0 %)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425196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FBE9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8"/>
          <p:cNvSpPr txBox="1"/>
          <p:nvPr/>
        </p:nvSpPr>
        <p:spPr>
          <a:xfrm>
            <a:off x="441655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1.000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441655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0 positivas  (0,0 %)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786384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E9F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8"/>
          <p:cNvSpPr txBox="1"/>
          <p:nvPr/>
        </p:nvSpPr>
        <p:spPr>
          <a:xfrm>
            <a:off x="802843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2.000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 txBox="1"/>
          <p:nvPr/>
        </p:nvSpPr>
        <p:spPr>
          <a:xfrm>
            <a:off x="802843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B6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E8B6F"/>
                </a:solidFill>
                <a:latin typeface="Calibri"/>
                <a:ea typeface="Calibri"/>
                <a:cs typeface="Calibri"/>
                <a:sym typeface="Calibri"/>
              </a:rPr>
              <a:t>257 positivas  (12,8 %)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Tres decisiones que sostienen la comparación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"/>
          <p:cNvSpPr txBox="1"/>
          <p:nvPr/>
        </p:nvSpPr>
        <p:spPr>
          <a:xfrm>
            <a:off x="640080" y="16916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1371600" y="16642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Partición cronológica con embargo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1371600" y="20574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train 1962–2007 · validación 2007–2016 · test 2017–2026, separados por un hueco de 90 sesiones. Un reparto aleatorio de ventanas solapadas infla las métricas.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"/>
          <p:cNvSpPr txBox="1"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1371600" y="27157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Los generadores solo ven el presupuesto real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las mismas 3.000 ventanas de entrenamiento que el clasificador, nunca el histórico completo, nunca validación o test.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"/>
          <p:cNvSpPr txBox="1"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 txBox="1"/>
          <p:nvPr/>
        </p:nvSpPr>
        <p:spPr>
          <a:xfrm>
            <a:off x="1371600" y="376732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Arquitectura y protocolo únicos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1371600" y="416052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misma CNN clasificadora para las 4 configuraciones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; búsqueda de arquitectura sobre datos reales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fmla="val 6957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"/>
          <p:cNvSpPr txBox="1"/>
          <p:nvPr/>
        </p:nvSpPr>
        <p:spPr>
          <a:xfrm>
            <a:off x="914400" y="519379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545"/>
                </a:solidFill>
                <a:latin typeface="Calibri"/>
                <a:ea typeface="Calibri"/>
                <a:cs typeface="Calibri"/>
                <a:sym typeface="Calibri"/>
              </a:rPr>
              <a:t>Determinismo, con un matiz honesto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 txBox="1"/>
          <p:nvPr/>
        </p:nvSpPr>
        <p:spPr>
          <a:xfrm>
            <a:off x="914400" y="5468112"/>
            <a:ext cx="10332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El mismo código, semillas y dataset.npz dieron referencias distintas en tres máquinas del grupo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(0,225 / 0,241 / 0,244) por orden de las operaciones en punto flotante. Por eso la comparación 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apoya en la dispersión entre semillas y no en el valor puntual.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LOS MODELOS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Cuatro generadores, todos condicionales por clase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/>
          <p:nvPr/>
        </p:nvSpPr>
        <p:spPr>
          <a:xfrm>
            <a:off x="640080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"/>
          <p:cNvSpPr/>
          <p:nvPr/>
        </p:nvSpPr>
        <p:spPr>
          <a:xfrm>
            <a:off x="896112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8C8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"/>
          <p:cNvSpPr txBox="1"/>
          <p:nvPr/>
        </p:nvSpPr>
        <p:spPr>
          <a:xfrm>
            <a:off x="868680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Ruido gaussiano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 txBox="1"/>
          <p:nvPr/>
        </p:nvSpPr>
        <p:spPr>
          <a:xfrm>
            <a:off x="868680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perturbación de datos reales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868680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 txBox="1"/>
          <p:nvPr/>
        </p:nvSpPr>
        <p:spPr>
          <a:xfrm>
            <a:off x="868680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segundos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3410712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0"/>
          <p:cNvSpPr/>
          <p:nvPr/>
        </p:nvSpPr>
        <p:spPr>
          <a:xfrm>
            <a:off x="3666744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0"/>
          <p:cNvSpPr txBox="1"/>
          <p:nvPr/>
        </p:nvSpPr>
        <p:spPr>
          <a:xfrm>
            <a:off x="3639312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cGAN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 txBox="1"/>
          <p:nvPr/>
        </p:nvSpPr>
        <p:spPr>
          <a:xfrm>
            <a:off x="3639312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adversaria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3639312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 txBox="1"/>
          <p:nvPr/>
        </p:nvSpPr>
        <p:spPr>
          <a:xfrm>
            <a:off x="3639312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8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6181344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0"/>
          <p:cNvSpPr/>
          <p:nvPr/>
        </p:nvSpPr>
        <p:spPr>
          <a:xfrm>
            <a:off x="6437376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2E6F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0"/>
          <p:cNvSpPr txBox="1"/>
          <p:nvPr/>
        </p:nvSpPr>
        <p:spPr>
          <a:xfrm>
            <a:off x="6409944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CVAE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 txBox="1"/>
          <p:nvPr/>
        </p:nvSpPr>
        <p:spPr>
          <a:xfrm>
            <a:off x="6409944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variable latente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 txBox="1"/>
          <p:nvPr/>
        </p:nvSpPr>
        <p:spPr>
          <a:xfrm>
            <a:off x="6409944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0"/>
          <p:cNvSpPr txBox="1"/>
          <p:nvPr/>
        </p:nvSpPr>
        <p:spPr>
          <a:xfrm>
            <a:off x="6409944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6F9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2E6F9E"/>
                </a:solidFill>
                <a:latin typeface="Calibri"/>
                <a:ea typeface="Calibri"/>
                <a:cs typeface="Calibri"/>
                <a:sym typeface="Calibri"/>
              </a:rPr>
              <a:t>4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951976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9208008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5B8C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"/>
          <p:cNvSpPr txBox="1"/>
          <p:nvPr/>
        </p:nvSpPr>
        <p:spPr>
          <a:xfrm>
            <a:off x="9180576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Difusión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 txBox="1"/>
          <p:nvPr/>
        </p:nvSpPr>
        <p:spPr>
          <a:xfrm>
            <a:off x="9180576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difusión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9180576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0"/>
          <p:cNvSpPr txBox="1"/>
          <p:nvPr/>
        </p:nvSpPr>
        <p:spPr>
          <a:xfrm>
            <a:off x="9180576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8C5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5B8C5A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0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Cada uno genera 12.000 muestras y se evalúa con el mismo barrido de proporciones {0, 0,25, 0,5, 1, 2, 4}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sobre el presupuesto real, repitiendo cada configuración con 5 semillas.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PUNTO DE PARTIDA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La red extrae señal </a:t>
            </a:r>
            <a:r>
              <a:rPr b="1" lang="en-US" sz="32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, </a:t>
            </a: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pero no supera a un modelo lineal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64008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1"/>
          <p:cNvSpPr txBox="1"/>
          <p:nvPr/>
        </p:nvSpPr>
        <p:spPr>
          <a:xfrm>
            <a:off x="64008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0,225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91440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PR-AUC test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(CNN, sin sintéticos)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/>
          <p:nvPr/>
        </p:nvSpPr>
        <p:spPr>
          <a:xfrm>
            <a:off x="425196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"/>
          <p:cNvSpPr txBox="1"/>
          <p:nvPr/>
        </p:nvSpPr>
        <p:spPr>
          <a:xfrm>
            <a:off x="425196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5B7089"/>
                </a:solidFill>
                <a:latin typeface="Cambria"/>
                <a:ea typeface="Cambria"/>
                <a:cs typeface="Cambria"/>
                <a:sym typeface="Cambria"/>
              </a:rPr>
              <a:t>0,104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 txBox="1"/>
          <p:nvPr/>
        </p:nvSpPr>
        <p:spPr>
          <a:xfrm>
            <a:off x="452628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clasificador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sin información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786384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"/>
          <p:cNvSpPr txBox="1"/>
          <p:nvPr/>
        </p:nvSpPr>
        <p:spPr>
          <a:xfrm>
            <a:off x="786384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0,350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813816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regresión logística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sobre 6 descriptores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640080" y="3794760"/>
            <a:ext cx="108813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La regresión logística usa seis descriptores agregados de la ventana</a:t>
            </a:r>
            <a:r>
              <a:rPr lang="en-US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volatilidad, retorno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acumulado, drawdown corriente, mínimo diario, dispersión entre activos, rentabilidad absoluta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media</a:t>
            </a:r>
            <a:r>
              <a:rPr lang="en-US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. E</a:t>
            </a: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ntrenada sobre el histórico completo. La comparación no es simétrica, pero acota 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que se está midiendo: la convolución no aporta nada sobre un resumen estadístico sencillo.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fmla="val 8000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914400" y="5349240"/>
            <a:ext cx="10332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coeficiente de variación del PR-AUC entre semillas es 0,40 en test frente a 0,06 en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validación: el test cubre un único régimen con solo 8 episodios de estrés.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RESULTADO CENTRAL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PR-AUC en test según la proporción de sintéticos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54480"/>
            <a:ext cx="7406640" cy="443484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2"/>
          <p:cNvSpPr/>
          <p:nvPr/>
        </p:nvSpPr>
        <p:spPr>
          <a:xfrm>
            <a:off x="8275320" y="1554480"/>
            <a:ext cx="3246120" cy="4434840"/>
          </a:xfrm>
          <a:prstGeom prst="roundRect">
            <a:avLst>
              <a:gd fmla="val 2817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2"/>
          <p:cNvSpPr txBox="1"/>
          <p:nvPr/>
        </p:nvSpPr>
        <p:spPr>
          <a:xfrm>
            <a:off x="8549640" y="17830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Lectura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 txBox="1"/>
          <p:nvPr/>
        </p:nvSpPr>
        <p:spPr>
          <a:xfrm>
            <a:off x="8549640" y="2148840"/>
            <a:ext cx="269748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Ninguna curva se mantiene por encima de la referencia de forma sostenida.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cGAN 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 el único cuya mejor variación es exactamente cero.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Ruido, CVAE y difusión 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mejoran algo a proporción 0,25 y degradan a partir de 0,5–1.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2545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3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CONTRASTE ESTADÍSTICO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3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¿Alguna de esas subidas resiste el contraste?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3"/>
          <p:cNvSpPr txBox="1"/>
          <p:nvPr/>
        </p:nvSpPr>
        <p:spPr>
          <a:xfrm>
            <a:off x="822960" y="1828800"/>
            <a:ext cx="33832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8DA9C4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3"/>
          <p:cNvSpPr txBox="1"/>
          <p:nvPr/>
        </p:nvSpPr>
        <p:spPr>
          <a:xfrm>
            <a:off x="822960" y="32461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configuraciones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contrastadas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3"/>
          <p:cNvSpPr txBox="1"/>
          <p:nvPr/>
        </p:nvSpPr>
        <p:spPr>
          <a:xfrm>
            <a:off x="4343400" y="1828800"/>
            <a:ext cx="33832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 txBox="1"/>
          <p:nvPr/>
        </p:nvSpPr>
        <p:spPr>
          <a:xfrm>
            <a:off x="4343400" y="32461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mejoras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significativas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7863840" y="1828800"/>
            <a:ext cx="33832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A0A6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F2A0A6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 txBox="1"/>
          <p:nvPr/>
        </p:nvSpPr>
        <p:spPr>
          <a:xfrm>
            <a:off x="7863840" y="32461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degradaciones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significativas (p &lt; 0,05)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3"/>
          <p:cNvSpPr/>
          <p:nvPr/>
        </p:nvSpPr>
        <p:spPr>
          <a:xfrm>
            <a:off x="822960" y="4206240"/>
            <a:ext cx="10515600" cy="13716"/>
          </a:xfrm>
          <a:prstGeom prst="rect">
            <a:avLst/>
          </a:prstGeom>
          <a:solidFill>
            <a:srgbClr val="2340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Contraste de medias pareado por semilla frente a la referencia sin sintéticos. Las seis degradaciones: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CVAE en validación a proporción 1, 2 y 4 (−0,030 / −0,043 / −0,064); difusión a 0,5 (−0,037); ruido en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test a proporción 2 (−0,058).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3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1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La respuesta a la pregunta del taller, con estos generadores y este problema, es que no.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4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CONTRASTE ESTADÍSTICO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La misma conclusión, en una imagen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_mejora_por_modelo.png" id="243" name="Google Shape;24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08760"/>
            <a:ext cx="7360920" cy="4187952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4"/>
          <p:cNvSpPr/>
          <p:nvPr/>
        </p:nvSpPr>
        <p:spPr>
          <a:xfrm>
            <a:off x="8229600" y="1508760"/>
            <a:ext cx="3291840" cy="4187952"/>
          </a:xfrm>
          <a:prstGeom prst="roundRect">
            <a:avLst>
              <a:gd fmla="val 2778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4"/>
          <p:cNvSpPr txBox="1"/>
          <p:nvPr/>
        </p:nvSpPr>
        <p:spPr>
          <a:xfrm>
            <a:off x="8503920" y="17373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Cómo leerlo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 txBox="1"/>
          <p:nvPr/>
        </p:nvSpPr>
        <p:spPr>
          <a:xfrm>
            <a:off x="8503920" y="2103120"/>
            <a:ext cx="2743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Cada barra es la </a:t>
            </a:r>
            <a:r>
              <a:rPr b="1" i="1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mejor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variación que consigue ese generador; la línea es cuánto varía entre semillas.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Cuando esa línea cruza el cero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la subida no se distingue del ruido de la propia inicialización.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Las cuatro la cruzan.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POR QUÉ NO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5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Los tres generadores neuronales fallan en lo que importa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5"/>
          <p:cNvSpPr txBox="1"/>
          <p:nvPr/>
        </p:nvSpPr>
        <p:spPr>
          <a:xfrm>
            <a:off x="640080" y="1536192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El drawdown se mide sobre la cartera equiponderada: es la sincronía entre activos </a:t>
            </a:r>
            <a:r>
              <a:rPr lang="en-US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correlación</a:t>
            </a:r>
            <a:r>
              <a:rPr lang="en-US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 la que decide su magnitud.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7" name="Google Shape;257;p15"/>
          <p:cNvGraphicFramePr/>
          <p:nvPr/>
        </p:nvGraphicFramePr>
        <p:xfrm>
          <a:off x="640080" y="2331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{C02DFE67-2DCE-445B-B535-088A55D5F630}</a:tableStyleId>
              </a:tblPr>
              <a:tblGrid>
                <a:gridCol w="3108950"/>
                <a:gridCol w="1943100"/>
                <a:gridCol w="1943100"/>
                <a:gridCol w="1943100"/>
                <a:gridCol w="1943100"/>
              </a:tblGrid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Desviación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Curtosis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Correlación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Novedad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Reales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0,266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Ruido gaussiano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1,83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0,249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0,22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cGAN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0,281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2,88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0,156 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1,04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CVAE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0,047 ↓↓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0,768 ↑↑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Difusión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0,392 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0,03 ↓↓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0,435 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1,45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258" name="Google Shape;258;p15"/>
          <p:cNvSpPr txBox="1"/>
          <p:nvPr/>
        </p:nvSpPr>
        <p:spPr>
          <a:xfrm>
            <a:off x="640080" y="5074920"/>
            <a:ext cx="10881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CVAE genera ventanas casi planas (desviación cinco veces menor, correlación casi triple): los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23 activos se mueven al unísono. Es el suavizado característico de un autocodificador variacional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llevado al extremo, y el generador que más daño hace al clasificador.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EL GIRO FINAL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Realismo y utilidad no van de la mano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_calidad_vs_utilidad.png" id="268" name="Google Shape;2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81328"/>
            <a:ext cx="10881360" cy="400507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6"/>
          <p:cNvSpPr/>
          <p:nvPr/>
        </p:nvSpPr>
        <p:spPr>
          <a:xfrm>
            <a:off x="640080" y="562356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9AA7B5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6"/>
          <p:cNvSpPr txBox="1"/>
          <p:nvPr/>
        </p:nvSpPr>
        <p:spPr>
          <a:xfrm>
            <a:off x="868680" y="5623560"/>
            <a:ext cx="1005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COSTE 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2011680" y="5888736"/>
            <a:ext cx="182880" cy="182880"/>
          </a:xfrm>
          <a:prstGeom prst="ellipse">
            <a:avLst/>
          </a:prstGeom>
          <a:solidFill>
            <a:srgbClr val="8C8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6"/>
          <p:cNvSpPr txBox="1"/>
          <p:nvPr/>
        </p:nvSpPr>
        <p:spPr>
          <a:xfrm>
            <a:off x="226771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Ruido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segundos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3886200" y="5888736"/>
            <a:ext cx="182880" cy="182880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6"/>
          <p:cNvSpPr txBox="1"/>
          <p:nvPr/>
        </p:nvSpPr>
        <p:spPr>
          <a:xfrm>
            <a:off x="414223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CVAE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4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>
            <a:off x="5760720" y="5888736"/>
            <a:ext cx="182880" cy="182880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6"/>
          <p:cNvSpPr txBox="1"/>
          <p:nvPr/>
        </p:nvSpPr>
        <p:spPr>
          <a:xfrm>
            <a:off x="601675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cGAN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8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6"/>
          <p:cNvSpPr/>
          <p:nvPr/>
        </p:nvSpPr>
        <p:spPr>
          <a:xfrm>
            <a:off x="7635240" y="5888736"/>
            <a:ext cx="182880" cy="182880"/>
          </a:xfrm>
          <a:prstGeom prst="ellipse">
            <a:avLst/>
          </a:prstGeom>
          <a:solidFill>
            <a:srgbClr val="5B8C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6"/>
          <p:cNvSpPr txBox="1"/>
          <p:nvPr/>
        </p:nvSpPr>
        <p:spPr>
          <a:xfrm>
            <a:off x="789127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Difusión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 txBox="1"/>
          <p:nvPr/>
        </p:nvSpPr>
        <p:spPr>
          <a:xfrm>
            <a:off x="9646920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→ el inverso de la utilidad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2545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7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CONCLUSIÓN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 txBox="1"/>
          <p:nvPr/>
        </p:nvSpPr>
        <p:spPr>
          <a:xfrm>
            <a:off x="777240" y="1188720"/>
            <a:ext cx="105156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Ningún generador justifica su coste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frente a añadir ruido gaussiano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 txBox="1"/>
          <p:nvPr/>
        </p:nvSpPr>
        <p:spPr>
          <a:xfrm>
            <a:off x="822960" y="3063240"/>
            <a:ext cx="758952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 no está limitado por el volumen de datos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50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.L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a curva de aprendizaje del clasificador es plana en validación y descendente en test. Multiplicar por veinte las ventanas reales no mejora el resultado.</a:t>
            </a:r>
            <a:b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Los cuatro generadores se entrenan sobre los mismos 51 episodios escasos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: ninguno puede fabricar crisis genuinamente nuevas. O copian el dato real (ruido), o producen novedad que no es estrés realista (cGAN, difusión), o suavizan en exceso (CVAE). Un generador solo ayudaría si aportara variedad que no está en los datos — y eso es justo lo que no puede inventar.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 txBox="1"/>
          <p:nvPr/>
        </p:nvSpPr>
        <p:spPr>
          <a:xfrm>
            <a:off x="9006840" y="32918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REPOSITORIO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 txBox="1"/>
          <p:nvPr/>
        </p:nvSpPr>
        <p:spPr>
          <a:xfrm>
            <a:off x="9006840" y="3611880"/>
            <a:ext cx="228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8 notebooks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reproducibles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de principio a fin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9006840" y="4617720"/>
            <a:ext cx="2286000" cy="10973"/>
          </a:xfrm>
          <a:prstGeom prst="rect">
            <a:avLst/>
          </a:prstGeom>
          <a:solidFill>
            <a:srgbClr val="2C4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7"/>
          <p:cNvSpPr txBox="1"/>
          <p:nvPr/>
        </p:nvSpPr>
        <p:spPr>
          <a:xfrm>
            <a:off x="9006840" y="4754880"/>
            <a:ext cx="228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800"/>
              <a:buFont typeface="Cambria"/>
              <a:buNone/>
            </a:pPr>
            <a:r>
              <a:rPr b="0" i="1" lang="en-US" sz="1800" u="none" cap="none" strike="noStrike">
                <a:solidFill>
                  <a:srgbClr val="8DA9C4"/>
                </a:solidFill>
                <a:latin typeface="Cambria"/>
                <a:ea typeface="Cambria"/>
                <a:cs typeface="Cambria"/>
                <a:sym typeface="Cambria"/>
              </a:rPr>
              <a:t>Gracias — preguntas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